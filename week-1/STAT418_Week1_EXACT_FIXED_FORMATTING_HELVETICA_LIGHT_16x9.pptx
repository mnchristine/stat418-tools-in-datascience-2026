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Helvetica Neue Light"/>
              </a:rPr>
              <a:t>This isn't a theory course - it's about getting your hands dirty with the actual tools and workflows used in industry today. We'll learn current tools while understanding the principles that will serve you throughout your career, regardless of which specific technologies are popular at any given moment. The course builds progressively from foundational tools to production deployment systems.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Helvetica Neue Light"/>
              </a:rPr>
              <a:t>The course is structured around hands-on learning. Each problem set builds on previous concepts, and your final project will showcase all the skills you've learned. By the end, you'll have built and deployed a complete data product that demonstrates your capabilities to potential employers. The progressive structure ensures you have the foundational skills before moving to more complex topics.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Helvetica Neue Light"/>
              </a:rPr>
              <a:t>Some people worry AI makes learning to code obsolete. That's not true, but it does change what we need to learn and how we learn it. AI assistants free you from memorizing syntax so you can focus on architecture, logic, and problem-solving. We'll learn to use AI effectively while building the fundamentals that let you understand and improve what AI generates. You'll learn how to prompt effectively and how to evaluate generated code.</a:t>
            </a:r>
          </a:p>
          <a:p/>
          <a:p>
            <a:r>
              <a:rPr>
                <a:latin typeface="Helvetica Neue Light"/>
              </a:rPr>
              <a:t>## The Journey vs. The Destination</a:t>
            </a:r>
          </a:p>
          <a:p/>
          <a:p>
            <a:r>
              <a:rPr>
                <a:latin typeface="Helvetica Neue Light"/>
              </a:rPr>
              <a:t>**Terence Tao on AI and Problem-Solving**</a:t>
            </a:r>
          </a:p>
          <a:p/>
          <a:p>
            <a:r>
              <a:rPr>
                <a:latin typeface="Helvetica Neue Light"/>
              </a:rPr>
              <a:t>&gt; "These problems are like distant locations that you would hike to. And in the past, you would have to go on a journey. You can lay down trail markers that other people could follow, and you could make maps.</a:t>
            </a:r>
          </a:p>
          <a:p>
            <a:r>
              <a:rPr>
                <a:latin typeface="Helvetica Neue Light"/>
              </a:rPr>
              <a:t>&gt; </a:t>
            </a:r>
          </a:p>
          <a:p>
            <a:r>
              <a:rPr>
                <a:latin typeface="Helvetica Neue Light"/>
              </a:rPr>
              <a:t>&gt; AI tools are like taking a helicopter to drop you off at the site. You miss all the benefits of the journey itself. You just get right to the destination, which actually was only just a part of the value of solving these problems."</a:t>
            </a:r>
          </a:p>
          <a:p>
            <a:r>
              <a:rPr>
                <a:latin typeface="Helvetica Neue Light"/>
              </a:rPr>
              <a:t>&gt; </a:t>
            </a:r>
          </a:p>
          <a:p>
            <a:r>
              <a:rPr>
                <a:latin typeface="Helvetica Neue Light"/>
              </a:rPr>
              <a:t>&gt; — Terence Tao, Fields Medalist</a:t>
            </a:r>
          </a:p>
          <a:p/>
          <a:p>
            <a:r>
              <a:rPr>
                <a:latin typeface="Helvetica Neue Light"/>
              </a:rPr>
              <a:t>**The Lesson for Data Science:**</a:t>
            </a:r>
          </a:p>
          <a:p>
            <a:r>
              <a:rPr>
                <a:latin typeface="Helvetica Neue Light"/>
              </a:rPr>
              <a:t>- **Understanding the journey** is as important as reaching the destination</a:t>
            </a:r>
          </a:p>
          <a:p>
            <a:r>
              <a:rPr>
                <a:latin typeface="Helvetica Neue Light"/>
              </a:rPr>
              <a:t>- **Building fundamentals** lets you navigate when AI can't help</a:t>
            </a:r>
          </a:p>
          <a:p>
            <a:r>
              <a:rPr>
                <a:latin typeface="Helvetica Neue Light"/>
              </a:rPr>
              <a:t>- **AI accelerates**, but doesn't replace the learning process</a:t>
            </a:r>
          </a:p>
          <a:p>
            <a:r>
              <a:rPr>
                <a:latin typeface="Helvetica Neue Light"/>
              </a:rPr>
              <a:t>- **We'll use AI as a tool**, not a crutch</a:t>
            </a:r>
          </a:p>
          <a:p/>
          <a:p>
            <a:r>
              <a:rPr>
                <a:latin typeface="Helvetica Neue Light"/>
              </a:rPr>
              <a:t>**Speaker Notes:**</a:t>
            </a:r>
          </a:p>
          <a:p>
            <a:r>
              <a:rPr>
                <a:latin typeface="Helvetica Neue Light"/>
              </a:rPr>
              <a:t>This quote from Terence Tao, one of the world's greatest mathematicians, perfectly captures our philosophy. AI tools are incredibly powerful, but if you only use them to get answers without understanding the process, you miss the real learning. In this course, we'll use AI to accelerate your work, but we'll also make sure you understand what's happening under the hood. The goal is to make you a better data scientist, not just someone who can prompt AI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Helvetica Neue Light"/>
              </a:rPr>
              <a:t>Version control systems are fundamental to professional software development. Without them, collaboration becomes impossible and experimentation becomes dangerous. Git has become the industry standard, and understanding it is essential for any data science career. Your GitHub profile essentially becomes your professional portfolio.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Helvetica Neue Light"/>
              </a:rPr>
              <a:t>Git won the version control wars for technical reasons, but GitHub's social platform made it dominant. GitHub turned Git from a command-line tool into a collaborative platform with web interfaces, pull requests, issue tracking, and social features. Today, having a GitHub profile with your projects is essentially a portfolio for developers and data scientists. In this course, all your work will be on GitHub.</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Helvetica Neue Light"/>
              </a:rPr>
              <a:t>The basic workflow is simple but powerful. You make changes to files in your working directory, stage the changes you want to save, then commit those staged changes to the repository with a message describing what you did. Once committed, those changes are permanently recorded in the project history. When working with GitHub, you push your commits to back up your work and share with collaborators.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Helvetica Neue Light"/>
              </a:rPr>
              <a:t>Good commit messages are crucial for understanding project history. Future you (and your collaborators) will thank you for clear commit messages when trying to understand what changed and why. Each commit should tell a story about the evolution of your project. The .gitignore file prevents you from accidentally committing files that shouldn't be in version control, especially sensitive information like API keys.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Helvetica Neue Light"/>
              </a:rPr>
              <a:t>This isolation is crucial for reproducibility. You can share your project with someone else, they can create a virtual environment and install the same package versions you used, and the code will work the same way. Without virtual environments, "it works on my machine" becomes a constant problem in data science projects.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Helvetica Neue Light"/>
              </a:rPr>
              <a:t>This has been a persistent pain point in the Python ecosystem. Developers would spend more time fighting with package management than actually writing code. Each tool had its advocates, but none provided a simple, fast, reliable solution that worked well for everyone. This fragmentation made Python harder to learn and use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Helvetica Neue Light"/>
              </a:rPr>
              <a:t>uv solves a practical problem for this course: you won't waste time waiting for packages to install or fighting with environment management. You'll spend your time actually learning data science tools instead of fighting with the tools that manage the tools. The speed difference is genuinely dramatic - installations that took minutes now take seconds.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Helvetica Neue Light"/>
              </a:rPr>
              <a:t>The .venv directory contains the Python interpreter, standard library, and space for packages you install. Once activated, any packages you install go into this environment's directory, not your system Python. When you're done working, you deactivate the environment and return to system Python. If you need to delete the environment, just delete the .venv directory and create a new one. This isolation is what makes projects reproducible.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Helvetica Neue Light"/>
              </a:rPr>
              <a:t>VSCode quickly became the dominant code editor because it solved the trade-offs that plagued previous editors. It's lightweight enough to start quickly but feature-rich enough for complex projects. The extension ecosystem means it can be customized for any language or workflow. Being built on web technologies (Electron) makes it easy to extend and maintain across platforms.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Helvetica Neue Light"/>
              </a:rPr>
              <a:t>For data science work, the integrated workflow is crucial. You're constantly switching between writing code, running experiments, checking results, and iterating. Having everything in one interface eliminates the friction of switching between applications. The Python extension provides professional-grade development tools that help you write better code faster.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Helvetica Neue Light"/>
              </a:rPr>
              <a:t>These three extensions transform VSCode into a complete data science development environment. The Python extension provides the foundation for Python development. Cline brings AI assistance directly into your editor with access to multiple models through OpenRouter. GitLens makes Git visual and understandable, which is especially useful when working on team projects or trying to understand unfamiliar code. Together, they provide everything you need for modern data science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Helvetica Neue Light"/>
              </a:rPr>
              <a:t>By 2026, AI coding assistants are ubiquitous - most professional developers use them daily. The question is no longer whether to use AI assistants, but how to use them effectively. For this course, Cline with OpenRouter provides a flexible, powerful solution. OpenRouter gives you access to multiple models including completely free options, so you can choose based on your needs and budget. The free tier is more than sufficient for coursework.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Helvetica Neue Light"/>
              </a:rPr>
              <a:t>These capabilities can dramatically speed up development, but the key is knowing when to use AI and when to think through problems yourself. AI is excellent at the mechanical aspects of coding but can't replace your domain knowledge, architectural thinking, or problem-solving skills. The goal is to use AI to handle routine tasks so you can focus on the interesting, creative aspects of data science.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Helvetica Neue Light"/>
              </a:rPr>
              <a:t>This is crucial to understand: AI assistants are tools that enhance your capabilities, not replacements for your judgment and expertise. They can help you implement solutions faster, but you still need to understand what you're building and why. The most dangerous mistake is blindly trusting AI-generated code without understanding it. Always review, test, and verify.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Helvetica Neue Light"/>
              </a:rPr>
              <a:t>Effective prompting is a skill that improves with practice. The more specific and contextual you are, the better results you'll get. Don't just ask for code - ask for understanding. The goal isn't just to get working code, it's to learn and understand what you're doing. AI can be an excellent teacher if you ask the right questions.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Helvetica Neue Light"/>
              </a:rPr>
              <a:t>This workflow is faster than traditional development, but it requires different skills. You need to be good at prompting, able to quickly evaluate code quality, and have strong fundamentals so you can spot when AI makes mistakes. You also need to know when to use AI and when to write code yourself. The most important skill is maintaining the ability to think critically about what you're building.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Helvetica Neue Light"/>
              </a:rPr>
              <a:t>The setup guide is comprehensive and has been tested on both Mac and Windows systems. Follow it carefully and test that everything works. The most common issues are usually related to PATH configuration or permissions. If you run into problems, post in the Slack channel - your classmates might have solved the same issue. OpenRouter provides free credits and free models, so you don't need a credit card to get started.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Helvetica Neue Light"/>
              </a:rPr>
              <a:t>These examples are designed to give you hands-on experience with the core tools. The python-setup example teaches the environment management workflow you'll use for every project. The git-workflow example covers the version control basics you'll need. The ai-assistant-demo shows you how to use Cline with OpenRouter effectively. Take time to experiment and break things - that's how you learn.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Helvetica Neue Light"/>
              </a:rPr>
              <a:t>The troubleshooting section in STUDENT_SETUP.md covers the most common issues we've seen in previous years. The course Slack channel is usually the fastest way to get help - someone is usually online and willing to help. Office hours are great for complex issues that need hands-on debugging. Remember, everyone struggles with setup issues - it's normal and expected.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Helvetica Neue Light"/>
              </a:rPr>
              <a:t>Each week builds on the previous ones. The command line skills you'll learn in weeks 2-3 will be essential for the containerization and deployment topics later. The AI assistant skills you're learning now will accelerate your work throughout the course. By week 10, you'll have a complete toolkit for building and deploying data science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Helvetica Neue Light"/>
              </a:rPr>
              <a:t>These principles will serve you throughout your career, regardless of which specific tools are popular. The ability to learn new tools quickly, use AI effectively, and build robust systems will be valuable long after the specific technologies we're using have been replaced by something newer.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Helvetica Neue Light"/>
              </a:rPr>
              <a:t>Don't underestimate the time needed for setup - start early. The examples are designed to reinforce what we've covered today and give you confidence with the tools. Starting to think about your final project early will help you make better decisions throughout the course about what skills to focus on developing.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Helvetica Neue Light"/>
              </a:rPr>
              <a:t>The hands-on portion is crucial for cementing the concepts we've discussed. Don't hesitate to ask questions during the demonstrations. The goal is for everyone to leave today with a clear understanding of what we're building toward and confidence that they can complete the setup successfully. Next week we'll assume everyone has a working development environment and can focus on learning new skills rather than fighting with tools.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a:latin typeface="Helvetica Neue Light"/>
              </a:rPr>
              <a:t>Week 1: Introduction &amp; Modern Development Environment</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a:latin typeface="Helvetica Neue Light"/>
              </a:rPr>
              <a:t># STAT 418: Tools in Data Science</a:t>
            </a:r>
          </a:p>
          <a:p>
            <a:pPr>
              <a:defRPr sz="1800">
                <a:solidFill>
                  <a:srgbClr val="3C3C3C"/>
                </a:solidFill>
                <a:latin typeface="Helvetica"/>
              </a:defRPr>
            </a:pPr>
            <a:r>
              <a:rPr>
                <a:latin typeface="Helvetica Neue Light"/>
              </a:rPr>
              <a:t>Instructor: Nate Langholz</a:t>
            </a:r>
          </a:p>
          <a:p>
            <a:pPr>
              <a:defRPr sz="1800">
                <a:solidFill>
                  <a:srgbClr val="3C3C3C"/>
                </a:solidFill>
                <a:latin typeface="Helvetica"/>
              </a:defRPr>
            </a:pPr>
            <a:r>
              <a:rPr>
                <a:latin typeface="Helvetica Neue Light"/>
              </a:rPr>
              <a:t>Date: March 31, 2026</a:t>
            </a:r>
          </a:p>
          <a:p>
            <a:pPr>
              <a:defRPr sz="1800">
                <a:solidFill>
                  <a:srgbClr val="3C3C3C"/>
                </a:solidFill>
                <a:latin typeface="Helvetica"/>
              </a:defRPr>
            </a:pPr>
            <a:r>
              <a:rPr>
                <a:latin typeface="Helvetica Neue Light"/>
              </a:rPr>
              <a:t>Class Time: Tuesdays 6:00-9:00 PM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a:latin typeface="Helvetica Neue Light"/>
              </a:rPr>
              <a:t>Welcome to STAT 418</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a:latin typeface="Helvetica Neue Light"/>
              </a:rPr>
              <a:t>Building Real, Deployable Data Products</a:t>
            </a:r>
          </a:p>
          <a:p>
            <a:pPr>
              <a:defRPr sz="1800">
                <a:solidFill>
                  <a:srgbClr val="3C3C3C"/>
                </a:solidFill>
                <a:latin typeface="Helvetica"/>
              </a:defRPr>
            </a:pPr>
            <a:r>
              <a:rPr>
                <a:latin typeface="Helvetica Neue Light"/>
              </a:rPr>
              <a:t>This course focuses on the practical tools that data scientists use to build real, deployable data products. Over 10 weeks, we'll take a data science project from initial idea all the way through to a deployed application that others can use.</a:t>
            </a:r>
          </a:p>
          <a:p>
            <a:pPr>
              <a:defRPr sz="1800">
                <a:solidFill>
                  <a:srgbClr val="3C3C3C"/>
                </a:solidFill>
                <a:latin typeface="Helvetica"/>
              </a:defRPr>
            </a:pPr>
            <a:r>
              <a:rPr>
                <a:latin typeface="Helvetica Neue Light"/>
              </a:rPr>
              <a:t>**10 weeks**: Idea → Deployed Application</a:t>
            </a:r>
          </a:p>
          <a:p>
            <a:pPr>
              <a:defRPr sz="1800">
                <a:solidFill>
                  <a:srgbClr val="3C3C3C"/>
                </a:solidFill>
                <a:latin typeface="Helvetica"/>
              </a:defRPr>
            </a:pPr>
            <a:r>
              <a:rPr>
                <a:latin typeface="Helvetica Neue Light"/>
              </a:rPr>
              <a:t>**Hands-on learning** with industry tools</a:t>
            </a:r>
          </a:p>
          <a:p>
            <a:pPr>
              <a:defRPr sz="1800">
                <a:solidFill>
                  <a:srgbClr val="3C3C3C"/>
                </a:solidFill>
                <a:latin typeface="Helvetica"/>
              </a:defRPr>
            </a:pPr>
            <a:r>
              <a:rPr>
                <a:latin typeface="Helvetica Neue Light"/>
              </a:rPr>
              <a:t>**Tools change, fundamentals endure**</a:t>
            </a:r>
          </a:p>
          <a:p>
            <a:pPr>
              <a:defRPr sz="1800">
                <a:solidFill>
                  <a:srgbClr val="3C3C3C"/>
                </a:solidFill>
                <a:latin typeface="Helvetica"/>
              </a:defRPr>
            </a:pPr>
            <a:r>
              <a:rPr>
                <a:latin typeface="Helvetica Neue Light"/>
              </a:rPr>
              <a:t>The landscape of data science tools changes rapidly. What was cutting edge five years ago might be obsolete today. But the fundamental concepts - version control, reproducible environments, testing, deployment - these endure.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a:latin typeface="Helvetica Neue Light"/>
              </a:rPr>
              <a:t>Course Structure</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a:latin typeface="Helvetica Neue Light"/>
              </a:rPr>
              <a:t>Progressive Learning Over 10 Weeks</a:t>
            </a:r>
          </a:p>
          <a:p>
            <a:pPr>
              <a:defRPr sz="1800">
                <a:solidFill>
                  <a:srgbClr val="3C3C3C"/>
                </a:solidFill>
                <a:latin typeface="Helvetica"/>
              </a:defRPr>
            </a:pPr>
            <a:r>
              <a:rPr>
                <a:latin typeface="Helvetica Neue Light"/>
              </a:rPr>
              <a:t>**Tuesdays 6:00-9:00 PM** - 3-hour sessions</a:t>
            </a:r>
          </a:p>
          <a:p>
            <a:pPr>
              <a:defRPr sz="1800">
                <a:solidFill>
                  <a:srgbClr val="3C3C3C"/>
                </a:solidFill>
                <a:latin typeface="Helvetica"/>
              </a:defRPr>
            </a:pPr>
            <a:r>
              <a:rPr>
                <a:latin typeface="Helvetica Neue Light"/>
              </a:rPr>
              <a:t>**4 problem sets** on alternating weeks</a:t>
            </a:r>
          </a:p>
          <a:p>
            <a:pPr>
              <a:defRPr sz="1800">
                <a:solidFill>
                  <a:srgbClr val="3C3C3C"/>
                </a:solidFill>
                <a:latin typeface="Helvetica"/>
              </a:defRPr>
            </a:pPr>
            <a:r>
              <a:rPr>
                <a:latin typeface="Helvetica Neue Light"/>
              </a:rPr>
              <a:t>**Individual final project** throughout the quarter</a:t>
            </a:r>
          </a:p>
          <a:p>
            <a:pPr>
              <a:defRPr sz="1800">
                <a:solidFill>
                  <a:srgbClr val="3C3C3C"/>
                </a:solidFill>
                <a:latin typeface="Helvetica"/>
              </a:defRPr>
            </a:pPr>
            <a:r>
              <a:rPr>
                <a:latin typeface="Helvetica Neue Light"/>
              </a:rPr>
              <a:t>**Week 6**: Proposal presentation with acquired data</a:t>
            </a:r>
          </a:p>
          <a:p>
            <a:pPr>
              <a:defRPr sz="1800">
                <a:solidFill>
                  <a:srgbClr val="3C3C3C"/>
                </a:solidFill>
                <a:latin typeface="Helvetica"/>
              </a:defRPr>
            </a:pPr>
            <a:r>
              <a:rPr>
                <a:latin typeface="Helvetica Neue Light"/>
              </a:rPr>
              <a:t>**Week 10**: Final presentation of completed project</a:t>
            </a:r>
          </a:p>
          <a:p>
            <a:pPr>
              <a:defRPr sz="1800">
                <a:solidFill>
                  <a:srgbClr val="3C3C3C"/>
                </a:solidFill>
                <a:latin typeface="Helvetica"/>
              </a:defRPr>
            </a:pPr>
            <a:r>
              <a:rPr>
                <a:latin typeface="Helvetica Neue Light"/>
              </a:rPr>
              <a:t>Course Arc:</a:t>
            </a:r>
          </a:p>
          <a:p>
            <a:pPr>
              <a:defRPr sz="1800">
                <a:solidFill>
                  <a:srgbClr val="3C3C3C"/>
                </a:solidFill>
                <a:latin typeface="Helvetica"/>
              </a:defRPr>
            </a:pPr>
            <a:r>
              <a:rPr>
                <a:latin typeface="Helvetica Neue Light"/>
              </a:rPr>
              <a:t>**Weeks 1-3**: Foundation (Git, Python, Command Line, Containers)</a:t>
            </a:r>
          </a:p>
          <a:p>
            <a:pPr>
              <a:defRPr sz="1800">
                <a:solidFill>
                  <a:srgbClr val="3C3C3C"/>
                </a:solidFill>
                <a:latin typeface="Helvetica"/>
              </a:defRPr>
            </a:pPr>
            <a:r>
              <a:rPr>
                <a:latin typeface="Helvetica Neue Light"/>
              </a:rPr>
              <a:t>**Weeks 4-5**: Data Acquisition &amp; AI Integration (Web Scraping, LLMs, RAG)</a:t>
            </a:r>
          </a:p>
          <a:p>
            <a:pPr>
              <a:defRPr sz="1800">
                <a:solidFill>
                  <a:srgbClr val="3C3C3C"/>
                </a:solidFill>
                <a:latin typeface="Helvetica"/>
              </a:defRPr>
            </a:pPr>
            <a:r>
              <a:rPr>
                <a:latin typeface="Helvetica Neue Light"/>
              </a:rPr>
              <a:t>**Weeks 6-8**: Deployment &amp; Applications (Streamlit, APIs, MCP Servers)</a:t>
            </a:r>
          </a:p>
          <a:p>
            <a:pPr>
              <a:defRPr sz="1800">
                <a:solidFill>
                  <a:srgbClr val="3C3C3C"/>
                </a:solidFill>
                <a:latin typeface="Helvetica"/>
              </a:defRPr>
            </a:pPr>
            <a:r>
              <a:rPr>
                <a:latin typeface="Helvetica Neue Light"/>
              </a:rPr>
              <a:t>**Weeks 9-10**: Production Systems &amp; Presentations (CI/CD, Final Projects)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a:latin typeface="Helvetica Neue Light"/>
              </a:rPr>
              <a:t>AI-Assisted Development in 2026</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a:latin typeface="Helvetica Neue Light"/>
              </a:rPr>
              <a:t>AI Assistants as Productivity Tools</a:t>
            </a:r>
          </a:p>
          <a:p>
            <a:pPr>
              <a:defRPr sz="1800">
                <a:solidFill>
                  <a:srgbClr val="3C3C3C"/>
                </a:solidFill>
                <a:latin typeface="Helvetica"/>
              </a:defRPr>
            </a:pPr>
            <a:r>
              <a:rPr>
                <a:latin typeface="Helvetica Neue Light"/>
              </a:rPr>
              <a:t>AI coding assistants are everywhere in 2026. They can write code, explain code, debug code, and generate documentation. This fundamentally changes how we approach software development, but it doesn't make learning to code obsolete.</a:t>
            </a:r>
          </a:p>
          <a:p>
            <a:pPr>
              <a:defRPr sz="1800">
                <a:solidFill>
                  <a:srgbClr val="3C3C3C"/>
                </a:solidFill>
                <a:latin typeface="Helvetica"/>
              </a:defRPr>
            </a:pPr>
            <a:r>
              <a:rPr>
                <a:latin typeface="Helvetica Neue Light"/>
              </a:rPr>
              <a:t>Our Philosophy:</a:t>
            </a:r>
          </a:p>
          <a:p>
            <a:pPr>
              <a:defRPr sz="1800">
                <a:solidFill>
                  <a:srgbClr val="3C3C3C"/>
                </a:solidFill>
                <a:latin typeface="Helvetica"/>
              </a:defRPr>
            </a:pPr>
            <a:r>
              <a:rPr>
                <a:latin typeface="Helvetica Neue Light"/>
              </a:rPr>
              <a:t>**AI enhances productivity**, doesn't replace understanding</a:t>
            </a:r>
          </a:p>
          <a:p>
            <a:pPr>
              <a:defRPr sz="1800">
                <a:solidFill>
                  <a:srgbClr val="3C3C3C"/>
                </a:solidFill>
                <a:latin typeface="Helvetica"/>
              </a:defRPr>
            </a:pPr>
            <a:r>
              <a:rPr>
                <a:latin typeface="Helvetica Neue Light"/>
              </a:rPr>
              <a:t>**Like calculators in math**: frees you for higher-level thinking</a:t>
            </a:r>
          </a:p>
          <a:p>
            <a:pPr>
              <a:defRPr sz="1800">
                <a:solidFill>
                  <a:srgbClr val="3C3C3C"/>
                </a:solidFill>
                <a:latin typeface="Helvetica"/>
              </a:defRPr>
            </a:pPr>
            <a:r>
              <a:rPr>
                <a:latin typeface="Helvetica Neue Light"/>
              </a:rPr>
              <a:t>**Learn when to trust**, when to question</a:t>
            </a:r>
          </a:p>
          <a:p>
            <a:pPr>
              <a:defRPr sz="1800">
                <a:solidFill>
                  <a:srgbClr val="3C3C3C"/>
                </a:solidFill>
                <a:latin typeface="Helvetica"/>
              </a:defRPr>
            </a:pPr>
            <a:r>
              <a:rPr>
                <a:latin typeface="Helvetica Neue Light"/>
              </a:rPr>
              <a:t>**Focus on architecture and problem-solving**, not syntax memorization</a:t>
            </a:r>
          </a:p>
          <a:p>
            <a:pPr>
              <a:defRPr sz="1800">
                <a:solidFill>
                  <a:srgbClr val="3C3C3C"/>
                </a:solidFill>
                <a:latin typeface="Helvetica"/>
              </a:defRPr>
            </a:pPr>
            <a:r>
              <a:rPr>
                <a:latin typeface="Helvetica Neue Light"/>
              </a:rPr>
              <a:t>This course embraces AI assistants while building deep understanding of what we're doing and why.</a:t>
            </a:r>
          </a:p>
        </p:txBody>
      </p:sp>
      <p:sp>
        <p:nvSpPr>
          <p:cNvPr id="5" name="Rectangle 4"/>
          <p:cNvSpPr/>
          <p:nvPr/>
        </p:nvSpPr>
        <p:spPr>
          <a:xfrm>
            <a:off x="8961120" y="1737360"/>
            <a:ext cx="2743200" cy="3474720"/>
          </a:xfrm>
          <a:prstGeom prst="rect">
            <a:avLst/>
          </a:prstGeom>
          <a:no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latin typeface="Helvetica"/>
              </a:defRPr>
            </a:pPr>
            <a:r>
              <a:rPr>
                <a:latin typeface="Helvetica Neue Light"/>
              </a:rPr>
              <a:t>Suggested image: a clean, high‑resolution conceptual diagram or icon‑based collage.</a:t>
            </a:r>
          </a:p>
          <a:p/>
          <a:p>
            <a:r>
              <a:rPr>
                <a:latin typeface="Helvetica Neue Light"/>
              </a:rPr>
              <a:t>Avoid screenshots with UI clutter. Prefer vector icons, architecture diagrams, or labeled concept illustrations that reinforce the idea rather than demonstrate steps.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a:latin typeface="Helvetica Neue Light"/>
              </a:rPr>
              <a:t>Part 1: Version Control with Git</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a:latin typeface="Helvetica Neue Light"/>
              </a:rPr>
              <a:t>The Problem We're Solving</a:t>
            </a:r>
          </a:p>
          <a:p>
            <a:pPr>
              <a:defRPr sz="1800">
                <a:solidFill>
                  <a:srgbClr val="3C3C3C"/>
                </a:solidFill>
                <a:latin typeface="Helvetica"/>
              </a:defRPr>
            </a:pPr>
            <a:r>
              <a:rPr>
                <a:latin typeface="Helvetica Neue Light"/>
              </a:rPr>
              <a:t>If you've ever worked on a document and ended up with files named:</a:t>
            </a:r>
          </a:p>
          <a:p>
            <a:pPr lvl="1">
              <a:defRPr sz="1600">
                <a:solidFill>
                  <a:srgbClr val="3C3C3C"/>
                </a:solidFill>
                <a:latin typeface="Courier New"/>
              </a:defRPr>
            </a:pPr>
            <a:r>
              <a:rPr>
                <a:latin typeface="Helvetica Neue Light"/>
              </a:rPr>
              <a:t>final_version.doc</a:t>
            </a:r>
          </a:p>
          <a:p>
            <a:pPr lvl="1">
              <a:defRPr sz="1600">
                <a:solidFill>
                  <a:srgbClr val="3C3C3C"/>
                </a:solidFill>
                <a:latin typeface="Courier New"/>
              </a:defRPr>
            </a:pPr>
            <a:r>
              <a:rPr>
                <a:latin typeface="Helvetica Neue Light"/>
              </a:rPr>
              <a:t>final_version_2.doc</a:t>
            </a:r>
          </a:p>
          <a:p>
            <a:pPr lvl="1">
              <a:defRPr sz="1600">
                <a:solidFill>
                  <a:srgbClr val="3C3C3C"/>
                </a:solidFill>
                <a:latin typeface="Courier New"/>
              </a:defRPr>
            </a:pPr>
            <a:r>
              <a:rPr>
                <a:latin typeface="Helvetica Neue Light"/>
              </a:rPr>
              <a:t>final_version_ACTUALLY_FINAL.doc</a:t>
            </a:r>
          </a:p>
          <a:p>
            <a:pPr>
              <a:defRPr sz="1800">
                <a:solidFill>
                  <a:srgbClr val="3C3C3C"/>
                </a:solidFill>
                <a:latin typeface="Helvetica"/>
              </a:defRPr>
            </a:pPr>
            <a:r>
              <a:rPr>
                <a:latin typeface="Helvetica Neue Light"/>
              </a:rPr>
              <a:t>You understand the problem version control solves. Now imagine that problem with code, where you have dozens of files that all depend on each other, and multiple people making changes simultaneously.</a:t>
            </a:r>
          </a:p>
          <a:p>
            <a:pPr>
              <a:defRPr sz="1800">
                <a:solidFill>
                  <a:srgbClr val="3C3C3C"/>
                </a:solidFill>
                <a:latin typeface="Helvetica"/>
              </a:defRPr>
            </a:pPr>
            <a:r>
              <a:rPr>
                <a:latin typeface="Helvetica Neue Light"/>
              </a:rPr>
              <a:t>What Version Control Provides:</a:t>
            </a:r>
          </a:p>
          <a:p>
            <a:pPr>
              <a:defRPr sz="1800">
                <a:solidFill>
                  <a:srgbClr val="3C3C3C"/>
                </a:solidFill>
                <a:latin typeface="Helvetica"/>
              </a:defRPr>
            </a:pPr>
            <a:r>
              <a:rPr>
                <a:latin typeface="Helvetica Neue Light"/>
              </a:rPr>
              <a:t>**Track every change** made to your code over time</a:t>
            </a:r>
          </a:p>
          <a:p>
            <a:pPr>
              <a:defRPr sz="1800">
                <a:solidFill>
                  <a:srgbClr val="3C3C3C"/>
                </a:solidFill>
                <a:latin typeface="Helvetica"/>
              </a:defRPr>
            </a:pPr>
            <a:r>
              <a:rPr>
                <a:latin typeface="Helvetica Neue Light"/>
              </a:rPr>
              <a:t>**See who changed what, when, and why**</a:t>
            </a:r>
          </a:p>
          <a:p>
            <a:pPr>
              <a:defRPr sz="1800">
                <a:solidFill>
                  <a:srgbClr val="3C3C3C"/>
                </a:solidFill>
                <a:latin typeface="Helvetica"/>
              </a:defRPr>
            </a:pPr>
            <a:r>
              <a:rPr>
                <a:latin typeface="Helvetica Neue Light"/>
              </a:rPr>
              <a:t>**Experiment without fear** of breaking working code</a:t>
            </a:r>
          </a:p>
          <a:p>
            <a:pPr>
              <a:defRPr sz="1800">
                <a:solidFill>
                  <a:srgbClr val="3C3C3C"/>
                </a:solidFill>
                <a:latin typeface="Helvetica"/>
              </a:defRPr>
            </a:pPr>
            <a:r>
              <a:rPr>
                <a:latin typeface="Helvetica Neue Light"/>
              </a:rPr>
              <a:t>**Collaborate without conflicts**</a:t>
            </a:r>
          </a:p>
          <a:p>
            <a:pPr>
              <a:defRPr sz="1800">
                <a:solidFill>
                  <a:srgbClr val="3C3C3C"/>
                </a:solidFill>
                <a:latin typeface="Helvetica"/>
              </a:defRPr>
            </a:pPr>
            <a:r>
              <a:rPr>
                <a:latin typeface="Helvetica Neue Light"/>
              </a:rPr>
              <a:t>**Roll back to any previous state** if something goes wrong</a:t>
            </a:r>
          </a:p>
        </p:txBody>
      </p:sp>
      <p:sp>
        <p:nvSpPr>
          <p:cNvPr id="5" name="Rectangle 4"/>
          <p:cNvSpPr/>
          <p:nvPr/>
        </p:nvSpPr>
        <p:spPr>
          <a:xfrm>
            <a:off x="8961120" y="1737360"/>
            <a:ext cx="2743200" cy="3474720"/>
          </a:xfrm>
          <a:prstGeom prst="rect">
            <a:avLst/>
          </a:prstGeom>
          <a:no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latin typeface="Helvetica"/>
              </a:defRPr>
            </a:pPr>
            <a:r>
              <a:rPr>
                <a:latin typeface="Helvetica Neue Light"/>
              </a:rPr>
              <a:t>Suggested image: a clean, high‑resolution conceptual diagram or icon‑based collage.</a:t>
            </a:r>
          </a:p>
          <a:p/>
          <a:p>
            <a:r>
              <a:rPr>
                <a:latin typeface="Helvetica Neue Light"/>
              </a:rPr>
              <a:t>Avoid screenshots with UI clutter. Prefer vector icons, architecture diagrams, or labeled concept illustrations that reinforce the idea rather than demonstrate steps.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a:latin typeface="Helvetica Neue Light"/>
              </a:rPr>
              <a:t>Git: A Brief History</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a:latin typeface="Helvetica Neue Light"/>
              </a:rPr>
              <a:t>Created by Linus Torvalds in 2005</a:t>
            </a:r>
          </a:p>
          <a:p>
            <a:pPr>
              <a:defRPr sz="1800">
                <a:solidFill>
                  <a:srgbClr val="3C3C3C"/>
                </a:solidFill>
                <a:latin typeface="Helvetica"/>
              </a:defRPr>
            </a:pPr>
            <a:r>
              <a:rPr>
                <a:latin typeface="Helvetica Neue Light"/>
              </a:rPr>
              <a:t>Git was created for Linux kernel development after the version control system they were using became unavailable. Torvalds needed something that could handle the massive Linux codebase with thousands of contributors working simultaneously.</a:t>
            </a:r>
          </a:p>
          <a:p>
            <a:pPr>
              <a:defRPr sz="1800">
                <a:solidFill>
                  <a:srgbClr val="3C3C3C"/>
                </a:solidFill>
                <a:latin typeface="Helvetica"/>
              </a:defRPr>
            </a:pPr>
            <a:r>
              <a:rPr>
                <a:latin typeface="Helvetica Neue Light"/>
              </a:rPr>
              <a:t>Design Goals:</a:t>
            </a:r>
          </a:p>
          <a:p>
            <a:pPr>
              <a:defRPr sz="1800">
                <a:solidFill>
                  <a:srgbClr val="3C3C3C"/>
                </a:solidFill>
                <a:latin typeface="Helvetica"/>
              </a:defRPr>
            </a:pPr>
            <a:r>
              <a:rPr>
                <a:latin typeface="Helvetica Neue Light"/>
              </a:rPr>
              <a:t>**Speed**: Operations that took minutes now take seconds</a:t>
            </a:r>
          </a:p>
          <a:p>
            <a:pPr>
              <a:defRPr sz="1800">
                <a:solidFill>
                  <a:srgbClr val="3C3C3C"/>
                </a:solidFill>
                <a:latin typeface="Helvetica"/>
              </a:defRPr>
            </a:pPr>
            <a:r>
              <a:rPr>
                <a:latin typeface="Helvetica Neue Light"/>
              </a:rPr>
              <a:t>**Distributed architecture**: Every developer has complete history</a:t>
            </a:r>
          </a:p>
          <a:p>
            <a:pPr>
              <a:defRPr sz="1800">
                <a:solidFill>
                  <a:srgbClr val="3C3C3C"/>
                </a:solidFill>
                <a:latin typeface="Helvetica"/>
              </a:defRPr>
            </a:pPr>
            <a:r>
              <a:rPr>
                <a:latin typeface="Helvetica Neue Light"/>
              </a:rPr>
              <a:t>**Powerful branching**: Easy to experiment and collaborate</a:t>
            </a:r>
          </a:p>
          <a:p>
            <a:pPr>
              <a:defRPr sz="1800">
                <a:solidFill>
                  <a:srgbClr val="3C3C3C"/>
                </a:solidFill>
                <a:latin typeface="Helvetica"/>
              </a:defRPr>
            </a:pPr>
            <a:r>
              <a:rPr>
                <a:latin typeface="Helvetica Neue Light"/>
              </a:rPr>
              <a:t>**Handle large projects** with many contributors</a:t>
            </a:r>
          </a:p>
          <a:p>
            <a:pPr>
              <a:defRPr sz="1800">
                <a:solidFill>
                  <a:srgbClr val="3C3C3C"/>
                </a:solidFill>
                <a:latin typeface="Helvetica"/>
              </a:defRPr>
            </a:pPr>
            <a:r>
              <a:rPr>
                <a:latin typeface="Helvetica Neue Light"/>
              </a:rPr>
              <a:t>Why Git Won:</a:t>
            </a:r>
          </a:p>
          <a:p>
            <a:pPr>
              <a:defRPr sz="1800">
                <a:solidFill>
                  <a:srgbClr val="3C3C3C"/>
                </a:solidFill>
                <a:latin typeface="Helvetica"/>
              </a:defRPr>
            </a:pPr>
            <a:r>
              <a:rPr>
                <a:latin typeface="Helvetica Neue Light"/>
              </a:rPr>
              <a:t>Genuinely fast performance</a:t>
            </a:r>
          </a:p>
          <a:p>
            <a:pPr>
              <a:defRPr sz="1800">
                <a:solidFill>
                  <a:srgbClr val="3C3C3C"/>
                </a:solidFill>
                <a:latin typeface="Helvetica"/>
              </a:defRPr>
            </a:pPr>
            <a:r>
              <a:rPr>
                <a:latin typeface="Helvetica Neue Light"/>
              </a:rPr>
              <a:t>Distributed workflow (work offline)</a:t>
            </a:r>
          </a:p>
          <a:p>
            <a:pPr>
              <a:defRPr sz="1800">
                <a:solidFill>
                  <a:srgbClr val="3C3C3C"/>
                </a:solidFill>
                <a:latin typeface="Helvetica"/>
              </a:defRPr>
            </a:pPr>
            <a:r>
              <a:rPr>
                <a:latin typeface="Helvetica Neue Light"/>
              </a:rPr>
              <a:t>Powerful branching and merging</a:t>
            </a:r>
          </a:p>
          <a:p>
            <a:pPr>
              <a:defRPr sz="1800">
                <a:solidFill>
                  <a:srgbClr val="3C3C3C"/>
                </a:solidFill>
                <a:latin typeface="Helvetica"/>
              </a:defRPr>
            </a:pPr>
            <a:r>
              <a:rPr>
                <a:latin typeface="Helvetica Neue Light"/>
              </a:rPr>
              <a:t>**GitHub made it accessible** (2008)</a:t>
            </a:r>
          </a:p>
        </p:txBody>
      </p:sp>
      <p:sp>
        <p:nvSpPr>
          <p:cNvPr id="5" name="Rectangle 4"/>
          <p:cNvSpPr/>
          <p:nvPr/>
        </p:nvSpPr>
        <p:spPr>
          <a:xfrm>
            <a:off x="8961120" y="1737360"/>
            <a:ext cx="2743200" cy="3474720"/>
          </a:xfrm>
          <a:prstGeom prst="rect">
            <a:avLst/>
          </a:prstGeom>
          <a:no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latin typeface="Helvetica"/>
              </a:defRPr>
            </a:pPr>
            <a:r>
              <a:rPr>
                <a:latin typeface="Helvetica Neue Light"/>
              </a:rPr>
              <a:t>Suggested image: a clean, high‑resolution conceptual diagram or icon‑based collage.</a:t>
            </a:r>
          </a:p>
          <a:p/>
          <a:p>
            <a:r>
              <a:rPr>
                <a:latin typeface="Helvetica Neue Light"/>
              </a:rPr>
              <a:t>Avoid screenshots with UI clutter. Prefer vector icons, architecture diagrams, or labeled concept illustrations that reinforce the idea rather than demonstrate steps.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a:latin typeface="Helvetica Neue Light"/>
              </a:rPr>
              <a:t>How Git Works</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a:latin typeface="Helvetica Neue Light"/>
              </a:rPr>
              <a:t>Three States of Your Code</a:t>
            </a:r>
          </a:p>
          <a:p>
            <a:pPr>
              <a:defRPr sz="1800">
                <a:solidFill>
                  <a:srgbClr val="3C3C3C"/>
                </a:solidFill>
                <a:latin typeface="Helvetica"/>
              </a:defRPr>
            </a:pPr>
            <a:r>
              <a:rPr>
                <a:latin typeface="Helvetica Neue Light"/>
              </a:rPr>
              <a:t>Git thinks about your code in three states:</a:t>
            </a:r>
          </a:p>
          <a:p>
            <a:pPr>
              <a:defRPr sz="1800">
                <a:solidFill>
                  <a:srgbClr val="3C3C3C"/>
                </a:solidFill>
                <a:latin typeface="Helvetica"/>
              </a:defRPr>
            </a:pPr>
            <a:r>
              <a:rPr>
                <a:latin typeface="Helvetica Neue Light"/>
              </a:rPr>
              <a:t>1. Working Directory - Your actual files that you're editing</a:t>
            </a:r>
          </a:p>
          <a:p>
            <a:pPr>
              <a:defRPr sz="1800">
                <a:solidFill>
                  <a:srgbClr val="3C3C3C"/>
                </a:solidFill>
                <a:latin typeface="Helvetica"/>
              </a:defRPr>
            </a:pPr>
            <a:r>
              <a:rPr>
                <a:latin typeface="Helvetica Neue Light"/>
              </a:rPr>
              <a:t>2. Staging Area (Index) - Files you've marked as ready to save</a:t>
            </a:r>
          </a:p>
          <a:p>
            <a:pPr>
              <a:defRPr sz="1800">
                <a:solidFill>
                  <a:srgbClr val="3C3C3C"/>
                </a:solidFill>
                <a:latin typeface="Helvetica"/>
              </a:defRPr>
            </a:pPr>
            <a:r>
              <a:rPr>
                <a:latin typeface="Helvetica Neue Light"/>
              </a:rPr>
              <a:t>3. Repository (.git directory) - The committed history of your project</a:t>
            </a:r>
          </a:p>
          <a:p>
            <a:pPr>
              <a:defRPr sz="1800">
                <a:solidFill>
                  <a:srgbClr val="3C3C3C"/>
                </a:solidFill>
                <a:latin typeface="Helvetica"/>
              </a:defRPr>
            </a:pPr>
            <a:r>
              <a:rPr>
                <a:latin typeface="Helvetica Neue Light"/>
              </a:rPr>
              <a:t>Basic Workflow:</a:t>
            </a:r>
          </a:p>
          <a:p>
            <a:pPr lvl="1">
              <a:defRPr sz="1600">
                <a:solidFill>
                  <a:srgbClr val="3C3C3C"/>
                </a:solidFill>
                <a:latin typeface="Courier New"/>
              </a:defRPr>
            </a:pPr>
            <a:r>
              <a:rPr>
                <a:latin typeface="Helvetica Neue Light"/>
              </a:rPr>
              <a:t>git status                    # Check what's changed</a:t>
            </a:r>
          </a:p>
          <a:p>
            <a:pPr lvl="1">
              <a:defRPr sz="1600">
                <a:solidFill>
                  <a:srgbClr val="3C3C3C"/>
                </a:solidFill>
                <a:latin typeface="Courier New"/>
              </a:defRPr>
            </a:pPr>
            <a:r>
              <a:rPr>
                <a:latin typeface="Helvetica Neue Light"/>
              </a:rPr>
              <a:t>git add filename.py          # Stage specific changes</a:t>
            </a:r>
          </a:p>
          <a:p>
            <a:pPr lvl="1">
              <a:defRPr sz="1600">
                <a:solidFill>
                  <a:srgbClr val="3C3C3C"/>
                </a:solidFill>
                <a:latin typeface="Courier New"/>
              </a:defRPr>
            </a:pPr>
            <a:r>
              <a:rPr>
                <a:latin typeface="Helvetica Neue Light"/>
              </a:rPr>
              <a:t>git add .                    # Stage all changes</a:t>
            </a:r>
          </a:p>
          <a:p>
            <a:pPr lvl="1">
              <a:defRPr sz="1600">
                <a:solidFill>
                  <a:srgbClr val="3C3C3C"/>
                </a:solidFill>
                <a:latin typeface="Courier New"/>
              </a:defRPr>
            </a:pPr>
            <a:r>
              <a:rPr>
                <a:latin typeface="Helvetica Neue Light"/>
              </a:rPr>
              <a:t>git commit -m "Add feature"  # Commit with descriptive message</a:t>
            </a:r>
          </a:p>
          <a:p>
            <a:pPr lvl="1">
              <a:defRPr sz="1600">
                <a:solidFill>
                  <a:srgbClr val="3C3C3C"/>
                </a:solidFill>
                <a:latin typeface="Courier New"/>
              </a:defRPr>
            </a:pPr>
            <a:r>
              <a:rPr>
                <a:latin typeface="Helvetica Neue Light"/>
              </a:rPr>
              <a:t>git push origin main         # Push to GitHub</a:t>
            </a:r>
          </a:p>
          <a:p>
            <a:pPr>
              <a:defRPr sz="1800">
                <a:solidFill>
                  <a:srgbClr val="3C3C3C"/>
                </a:solidFill>
                <a:latin typeface="Helvetica"/>
              </a:defRPr>
            </a:pPr>
            <a:r>
              <a:rPr>
                <a:latin typeface="Helvetica Neue Light"/>
              </a:rPr>
              <a:t>The Process: Make changes → Stage changes → Commit changes → Push to remote</a:t>
            </a:r>
          </a:p>
        </p:txBody>
      </p:sp>
      <p:sp>
        <p:nvSpPr>
          <p:cNvPr id="5" name="Rectangle 4"/>
          <p:cNvSpPr/>
          <p:nvPr/>
        </p:nvSpPr>
        <p:spPr>
          <a:xfrm>
            <a:off x="8961120" y="1737360"/>
            <a:ext cx="2743200" cy="3474720"/>
          </a:xfrm>
          <a:prstGeom prst="rect">
            <a:avLst/>
          </a:prstGeom>
          <a:no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latin typeface="Helvetica"/>
              </a:defRPr>
            </a:pPr>
            <a:r>
              <a:rPr>
                <a:latin typeface="Helvetica Neue Light"/>
              </a:rPr>
              <a:t>Suggested image: a clean, high‑resolution conceptual diagram or icon‑based collage.</a:t>
            </a:r>
          </a:p>
          <a:p/>
          <a:p>
            <a:r>
              <a:rPr>
                <a:latin typeface="Helvetica Neue Light"/>
              </a:rPr>
              <a:t>Avoid screenshots with UI clutter. Prefer vector icons, architecture diagrams, or labeled concept illustrations that reinforce the idea rather than demonstrate steps.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a:latin typeface="Helvetica Neue Light"/>
              </a:rPr>
              <a:t>Git Best Practices</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a:latin typeface="Helvetica Neue Light"/>
              </a:rPr>
              <a:t>Commit Messages Matter</a:t>
            </a:r>
          </a:p>
          <a:p>
            <a:pPr>
              <a:defRPr sz="1800">
                <a:solidFill>
                  <a:srgbClr val="3C3C3C"/>
                </a:solidFill>
                <a:latin typeface="Helvetica"/>
              </a:defRPr>
            </a:pPr>
            <a:r>
              <a:rPr>
                <a:latin typeface="Helvetica Neue Light"/>
              </a:rPr>
              <a:t>Your commit messages should explain what changed and why, not how:</a:t>
            </a:r>
          </a:p>
          <a:p>
            <a:pPr>
              <a:defRPr sz="1800">
                <a:solidFill>
                  <a:srgbClr val="3C3C3C"/>
                </a:solidFill>
                <a:latin typeface="Helvetica"/>
              </a:defRPr>
            </a:pPr>
            <a:r>
              <a:rPr>
                <a:latin typeface="Helvetica Neue Light"/>
              </a:rPr>
              <a:t>**Good**: "Add user authentication feature"</a:t>
            </a:r>
          </a:p>
          <a:p>
            <a:pPr>
              <a:defRPr sz="1800">
                <a:solidFill>
                  <a:srgbClr val="3C3C3C"/>
                </a:solidFill>
                <a:latin typeface="Helvetica"/>
              </a:defRPr>
            </a:pPr>
            <a:r>
              <a:rPr>
                <a:latin typeface="Helvetica Neue Light"/>
              </a:rPr>
              <a:t>**Good**: "Fix bug in data processing pipeline"</a:t>
            </a:r>
          </a:p>
          <a:p>
            <a:pPr>
              <a:defRPr sz="1800">
                <a:solidFill>
                  <a:srgbClr val="3C3C3C"/>
                </a:solidFill>
                <a:latin typeface="Helvetica"/>
              </a:defRPr>
            </a:pPr>
            <a:r>
              <a:rPr>
                <a:latin typeface="Helvetica Neue Light"/>
              </a:rPr>
              <a:t>**Bad**: "Update files"</a:t>
            </a:r>
          </a:p>
          <a:p>
            <a:pPr>
              <a:defRPr sz="1800">
                <a:solidFill>
                  <a:srgbClr val="3C3C3C"/>
                </a:solidFill>
                <a:latin typeface="Helvetica"/>
              </a:defRPr>
            </a:pPr>
            <a:r>
              <a:rPr>
                <a:latin typeface="Helvetica Neue Light"/>
              </a:rPr>
              <a:t>**Bad**: "Change line 47"</a:t>
            </a:r>
          </a:p>
          <a:p>
            <a:pPr>
              <a:defRPr sz="1800">
                <a:solidFill>
                  <a:srgbClr val="3C3C3C"/>
                </a:solidFill>
                <a:latin typeface="Helvetica"/>
              </a:defRPr>
            </a:pPr>
            <a:r>
              <a:rPr>
                <a:latin typeface="Helvetica Neue Light"/>
              </a:rPr>
              <a:t>Commit Strategy:</a:t>
            </a:r>
          </a:p>
          <a:p>
            <a:pPr>
              <a:defRPr sz="1800">
                <a:solidFill>
                  <a:srgbClr val="3C3C3C"/>
                </a:solidFill>
                <a:latin typeface="Helvetica"/>
              </a:defRPr>
            </a:pPr>
            <a:r>
              <a:rPr>
                <a:latin typeface="Helvetica Neue Light"/>
              </a:rPr>
              <a:t>**Commit often** - don't wait until everything is perfect</a:t>
            </a:r>
          </a:p>
          <a:p>
            <a:pPr>
              <a:defRPr sz="1800">
                <a:solidFill>
                  <a:srgbClr val="3C3C3C"/>
                </a:solidFill>
                <a:latin typeface="Helvetica"/>
              </a:defRPr>
            </a:pPr>
            <a:r>
              <a:rPr>
                <a:latin typeface="Helvetica Neue Light"/>
              </a:rPr>
              <a:t>**Commit logical units** - each commit should represent one coherent change</a:t>
            </a:r>
          </a:p>
          <a:p>
            <a:pPr>
              <a:defRPr sz="1800">
                <a:solidFill>
                  <a:srgbClr val="3C3C3C"/>
                </a:solidFill>
                <a:latin typeface="Helvetica"/>
              </a:defRPr>
            </a:pPr>
            <a:r>
              <a:rPr>
                <a:latin typeface="Helvetica Neue Light"/>
              </a:rPr>
              <a:t>**Don't commit half-finished features**</a:t>
            </a:r>
          </a:p>
          <a:p>
            <a:pPr>
              <a:defRPr sz="1800">
                <a:solidFill>
                  <a:srgbClr val="3C3C3C"/>
                </a:solidFill>
                <a:latin typeface="Helvetica"/>
              </a:defRPr>
            </a:pPr>
            <a:r>
              <a:rPr>
                <a:latin typeface="Helvetica Neue Light"/>
              </a:rPr>
              <a:t>**Don't commit 500 lines of changes at once**</a:t>
            </a:r>
          </a:p>
          <a:p>
            <a:pPr>
              <a:defRPr sz="1800">
                <a:solidFill>
                  <a:srgbClr val="3C3C3C"/>
                </a:solidFill>
                <a:latin typeface="Helvetica"/>
              </a:defRPr>
            </a:pPr>
            <a:r>
              <a:rPr>
                <a:latin typeface="Helvetica Neue Light"/>
              </a:rPr>
              <a:t>Use .gitignore:</a:t>
            </a:r>
          </a:p>
          <a:p>
            <a:pPr>
              <a:defRPr sz="1800">
                <a:solidFill>
                  <a:srgbClr val="3C3C3C"/>
                </a:solidFill>
                <a:latin typeface="Helvetica"/>
              </a:defRPr>
            </a:pPr>
            <a:r>
              <a:rPr>
                <a:latin typeface="Helvetica Neue Light"/>
              </a:rPr>
              <a:t>Generated files, temporary files, files with secrets</a:t>
            </a:r>
          </a:p>
          <a:p>
            <a:pPr>
              <a:defRPr sz="1800">
                <a:solidFill>
                  <a:srgbClr val="3C3C3C"/>
                </a:solidFill>
                <a:latin typeface="Helvetica"/>
              </a:defRPr>
            </a:pPr>
            <a:r>
              <a:rPr>
                <a:latin typeface="Helvetica Neue Light"/>
              </a:rPr>
              <a:t>Virtual environment directories (`venv/`, `.venv/`)</a:t>
            </a:r>
          </a:p>
          <a:p>
            <a:pPr>
              <a:defRPr sz="1800">
                <a:solidFill>
                  <a:srgbClr val="3C3C3C"/>
                </a:solidFill>
                <a:latin typeface="Helvetica"/>
              </a:defRPr>
            </a:pPr>
            <a:r>
              <a:rPr>
                <a:latin typeface="Helvetica Neue Light"/>
              </a:rPr>
              <a:t>Compiled Python files (`*.pyc`, `__pycache__/`)</a:t>
            </a:r>
          </a:p>
          <a:p>
            <a:pPr>
              <a:defRPr sz="1800">
                <a:solidFill>
                  <a:srgbClr val="3C3C3C"/>
                </a:solidFill>
                <a:latin typeface="Helvetica"/>
              </a:defRPr>
            </a:pPr>
            <a:r>
              <a:rPr>
                <a:latin typeface="Helvetica Neue Light"/>
              </a:rPr>
              <a:t>IDE configuration files</a:t>
            </a:r>
          </a:p>
          <a:p>
            <a:pPr>
              <a:defRPr sz="1800">
                <a:solidFill>
                  <a:srgbClr val="3C3C3C"/>
                </a:solidFill>
                <a:latin typeface="Helvetica"/>
              </a:defRPr>
            </a:pPr>
            <a:r>
              <a:rPr>
                <a:latin typeface="Helvetica Neue Light"/>
              </a:rPr>
              <a:t>Environment files (`.env`)</a:t>
            </a:r>
          </a:p>
        </p:txBody>
      </p:sp>
      <p:sp>
        <p:nvSpPr>
          <p:cNvPr id="5" name="Rectangle 4"/>
          <p:cNvSpPr/>
          <p:nvPr/>
        </p:nvSpPr>
        <p:spPr>
          <a:xfrm>
            <a:off x="8961120" y="1737360"/>
            <a:ext cx="2743200" cy="3474720"/>
          </a:xfrm>
          <a:prstGeom prst="rect">
            <a:avLst/>
          </a:prstGeom>
          <a:no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latin typeface="Helvetica"/>
              </a:defRPr>
            </a:pPr>
            <a:r>
              <a:rPr>
                <a:latin typeface="Helvetica Neue Light"/>
              </a:rPr>
              <a:t>Suggested image: a clean, high‑resolution conceptual diagram or icon‑based collage.</a:t>
            </a:r>
          </a:p>
          <a:p/>
          <a:p>
            <a:r>
              <a:rPr>
                <a:latin typeface="Helvetica Neue Light"/>
              </a:rPr>
              <a:t>Avoid screenshots with UI clutter. Prefer vector icons, architecture diagrams, or labeled concept illustrations that reinforce the idea rather than demonstrate steps.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a:latin typeface="Helvetica Neue Light"/>
              </a:rPr>
              <a:t>Part 2: The Python Package Management Problem</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a:latin typeface="Helvetica Neue Light"/>
              </a:rPr>
              <a:t>Different Projects Need Different Versions</a:t>
            </a:r>
          </a:p>
          <a:p>
            <a:pPr>
              <a:defRPr sz="1800">
                <a:solidFill>
                  <a:srgbClr val="3C3C3C"/>
                </a:solidFill>
                <a:latin typeface="Helvetica"/>
              </a:defRPr>
            </a:pPr>
            <a:r>
              <a:rPr>
                <a:latin typeface="Helvetica Neue Light"/>
              </a:rPr>
              <a:t>Python has become the dominant language for data science, but it has a fundamental problem:</a:t>
            </a:r>
          </a:p>
          <a:p>
            <a:pPr lvl="1">
              <a:defRPr sz="1600">
                <a:solidFill>
                  <a:srgbClr val="3C3C3C"/>
                </a:solidFill>
                <a:latin typeface="Courier New"/>
              </a:defRPr>
            </a:pPr>
            <a:r>
              <a:rPr>
                <a:latin typeface="Helvetica Neue Light"/>
              </a:rPr>
              <a:t>Project A needs:           Project B needs:</a:t>
            </a:r>
          </a:p>
          <a:p>
            <a:pPr lvl="1">
              <a:defRPr sz="1600">
                <a:solidFill>
                  <a:srgbClr val="3C3C3C"/>
                </a:solidFill>
                <a:latin typeface="Courier New"/>
              </a:defRPr>
            </a:pPr>
            <a:r>
              <a:rPr>
                <a:latin typeface="Helvetica Neue Light"/>
              </a:rPr>
              <a:t>- pandas 1.5.0            - pandas 2.0.0</a:t>
            </a:r>
          </a:p>
          <a:p>
            <a:pPr lvl="1">
              <a:defRPr sz="1600">
                <a:solidFill>
                  <a:srgbClr val="3C3C3C"/>
                </a:solidFill>
                <a:latin typeface="Courier New"/>
              </a:defRPr>
            </a:pPr>
            <a:r>
              <a:rPr>
                <a:latin typeface="Helvetica Neue Light"/>
              </a:rPr>
              <a:t>- numpy 1.23.0            - numpy 1.24.0</a:t>
            </a:r>
          </a:p>
          <a:p>
            <a:pPr lvl="1">
              <a:defRPr sz="1600">
                <a:solidFill>
                  <a:srgbClr val="3C3C3C"/>
                </a:solidFill>
                <a:latin typeface="Courier New"/>
              </a:defRPr>
            </a:pPr>
            <a:r>
              <a:rPr>
                <a:latin typeface="Helvetica Neue Light"/>
              </a:rPr>
              <a:t>But system Python can only have ONE version of each package!</a:t>
            </a:r>
          </a:p>
          <a:p>
            <a:pPr>
              <a:defRPr sz="1800">
                <a:solidFill>
                  <a:srgbClr val="3C3C3C"/>
                </a:solidFill>
                <a:latin typeface="Helvetica"/>
              </a:defRPr>
            </a:pPr>
            <a:r>
              <a:rPr>
                <a:latin typeface="Helvetica Neue Light"/>
              </a:rPr>
              <a:t>If you install pandas 2.0.0 for Project B, you break Project A.</a:t>
            </a:r>
          </a:p>
          <a:p>
            <a:pPr>
              <a:defRPr sz="1800">
                <a:solidFill>
                  <a:srgbClr val="3C3C3C"/>
                </a:solidFill>
                <a:latin typeface="Helvetica"/>
              </a:defRPr>
            </a:pPr>
            <a:r>
              <a:rPr>
                <a:latin typeface="Helvetica Neue Light"/>
              </a:rPr>
              <a:t>The Solution: Virtual Environments</a:t>
            </a:r>
          </a:p>
          <a:p>
            <a:pPr>
              <a:defRPr sz="1800">
                <a:solidFill>
                  <a:srgbClr val="3C3C3C"/>
                </a:solidFill>
                <a:latin typeface="Helvetica"/>
              </a:defRPr>
            </a:pPr>
            <a:r>
              <a:rPr>
                <a:latin typeface="Helvetica Neue Light"/>
              </a:rPr>
              <a:t>A virtual environment is an isolated Python installation for a specific project:</a:t>
            </a:r>
          </a:p>
          <a:p>
            <a:pPr>
              <a:defRPr sz="1800">
                <a:solidFill>
                  <a:srgbClr val="3C3C3C"/>
                </a:solidFill>
                <a:latin typeface="Helvetica"/>
              </a:defRPr>
            </a:pPr>
            <a:r>
              <a:rPr>
                <a:latin typeface="Helvetica Neue Light"/>
              </a:rPr>
              <a:t>Each project gets its own environment with its own packages</a:t>
            </a:r>
          </a:p>
          <a:p>
            <a:pPr>
              <a:defRPr sz="1800">
                <a:solidFill>
                  <a:srgbClr val="3C3C3C"/>
                </a:solidFill>
                <a:latin typeface="Helvetica"/>
              </a:defRPr>
            </a:pPr>
            <a:r>
              <a:rPr>
                <a:latin typeface="Helvetica Neue Light"/>
              </a:rPr>
              <a:t>Project A's environment has pandas 1.5.0</a:t>
            </a:r>
          </a:p>
          <a:p>
            <a:pPr>
              <a:defRPr sz="1800">
                <a:solidFill>
                  <a:srgbClr val="3C3C3C"/>
                </a:solidFill>
                <a:latin typeface="Helvetica"/>
              </a:defRPr>
            </a:pPr>
            <a:r>
              <a:rPr>
                <a:latin typeface="Helvetica Neue Light"/>
              </a:rPr>
              <a:t>Project B's environment has pandas 2.0.0</a:t>
            </a:r>
          </a:p>
          <a:p>
            <a:pPr>
              <a:defRPr sz="1800">
                <a:solidFill>
                  <a:srgbClr val="3C3C3C"/>
                </a:solidFill>
                <a:latin typeface="Helvetica"/>
              </a:defRPr>
            </a:pPr>
            <a:r>
              <a:rPr>
                <a:latin typeface="Helvetica Neue Light"/>
              </a:rPr>
              <a:t>They don't interfere with each other</a:t>
            </a:r>
          </a:p>
          <a:p>
            <a:pPr>
              <a:defRPr sz="1800">
                <a:solidFill>
                  <a:srgbClr val="3C3C3C"/>
                </a:solidFill>
                <a:latin typeface="Helvetica"/>
              </a:defRPr>
            </a:pPr>
            <a:r>
              <a:rPr>
                <a:latin typeface="Helvetica Neue Light"/>
              </a:rPr>
              <a:t>Full reproducibility when sharing projects</a:t>
            </a:r>
          </a:p>
        </p:txBody>
      </p:sp>
      <p:sp>
        <p:nvSpPr>
          <p:cNvPr id="5" name="Rectangle 4"/>
          <p:cNvSpPr/>
          <p:nvPr/>
        </p:nvSpPr>
        <p:spPr>
          <a:xfrm>
            <a:off x="8961120" y="1737360"/>
            <a:ext cx="2743200" cy="3474720"/>
          </a:xfrm>
          <a:prstGeom prst="rect">
            <a:avLst/>
          </a:prstGeom>
          <a:no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latin typeface="Helvetica"/>
              </a:defRPr>
            </a:pPr>
            <a:r>
              <a:rPr>
                <a:latin typeface="Helvetica Neue Light"/>
              </a:rPr>
              <a:t>Suggested image: a clean, high‑resolution conceptual diagram or icon‑based collage.</a:t>
            </a:r>
          </a:p>
          <a:p/>
          <a:p>
            <a:r>
              <a:rPr>
                <a:latin typeface="Helvetica Neue Light"/>
              </a:rPr>
              <a:t>Avoid screenshots with UI clutter. Prefer vector icons, architecture diagrams, or labeled concept illustrations that reinforce the idea rather than demonstrate steps.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a:latin typeface="Helvetica Neue Light"/>
              </a:rPr>
              <a:t>The Python Package Management Saga</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a:latin typeface="Helvetica Neue Light"/>
              </a:rPr>
              <a:t>Historical Solutions (All Had Issues)</a:t>
            </a:r>
          </a:p>
          <a:p>
            <a:pPr>
              <a:defRPr sz="1800">
                <a:solidFill>
                  <a:srgbClr val="3C3C3C"/>
                </a:solidFill>
                <a:latin typeface="Helvetica"/>
              </a:defRPr>
            </a:pPr>
            <a:r>
              <a:rPr>
                <a:latin typeface="Helvetica Neue Light"/>
              </a:rPr>
              <a:t>Python's ecosystem has had many competing tools for managing packages and environments, and they've all had significant problems:</a:t>
            </a:r>
          </a:p>
          <a:p>
            <a:pPr>
              <a:defRPr sz="1800">
                <a:solidFill>
                  <a:srgbClr val="3C3C3C"/>
                </a:solidFill>
                <a:latin typeface="Helvetica"/>
              </a:defRPr>
            </a:pPr>
            <a:r>
              <a:rPr>
                <a:latin typeface="Helvetica Neue Light"/>
              </a:rPr>
              <a:t>**virtualenv (2007)**: Virtual environments, but clunky workflow</a:t>
            </a:r>
          </a:p>
          <a:p>
            <a:pPr>
              <a:defRPr sz="1800">
                <a:solidFill>
                  <a:srgbClr val="3C3C3C"/>
                </a:solidFill>
                <a:latin typeface="Helvetica"/>
              </a:defRPr>
            </a:pPr>
            <a:r>
              <a:rPr>
                <a:latin typeface="Helvetica Neue Light"/>
              </a:rPr>
              <a:t>**pip (2008)**: Package installer, but slow dependency resolution</a:t>
            </a:r>
          </a:p>
          <a:p>
            <a:pPr>
              <a:defRPr sz="1800">
                <a:solidFill>
                  <a:srgbClr val="3C3C3C"/>
                </a:solidFill>
                <a:latin typeface="Helvetica"/>
              </a:defRPr>
            </a:pPr>
            <a:r>
              <a:rPr>
                <a:latin typeface="Helvetica Neue Light"/>
              </a:rPr>
              <a:t>**conda (2012)**: Environments + packages, but heavy and slow</a:t>
            </a:r>
          </a:p>
          <a:p>
            <a:pPr>
              <a:defRPr sz="1800">
                <a:solidFill>
                  <a:srgbClr val="3C3C3C"/>
                </a:solidFill>
                <a:latin typeface="Helvetica"/>
              </a:defRPr>
            </a:pPr>
            <a:r>
              <a:rPr>
                <a:latin typeface="Helvetica Neue Light"/>
              </a:rPr>
              <a:t>**poetry (2018)**: Modern dependency management, but complex</a:t>
            </a:r>
          </a:p>
          <a:p>
            <a:pPr>
              <a:defRPr sz="1800">
                <a:solidFill>
                  <a:srgbClr val="3C3C3C"/>
                </a:solidFill>
                <a:latin typeface="Helvetica"/>
              </a:defRPr>
            </a:pPr>
            <a:r>
              <a:rPr>
                <a:latin typeface="Helvetica Neue Light"/>
              </a:rPr>
              <a:t>**pipenv (2017)**: Attempted to unify pip + virtualenv, but slow and confusing</a:t>
            </a:r>
          </a:p>
          <a:p>
            <a:pPr>
              <a:defRPr sz="1800">
                <a:solidFill>
                  <a:srgbClr val="3C3C3C"/>
                </a:solidFill>
                <a:latin typeface="Helvetica"/>
              </a:defRPr>
            </a:pPr>
            <a:r>
              <a:rPr>
                <a:latin typeface="Helvetica Neue Light"/>
              </a:rPr>
              <a:t>The Running Joke:</a:t>
            </a:r>
          </a:p>
          <a:p>
            <a:pPr>
              <a:defRPr sz="1800">
                <a:solidFill>
                  <a:srgbClr val="3C3C3C"/>
                </a:solidFill>
                <a:latin typeface="Helvetica"/>
              </a:defRPr>
            </a:pPr>
            <a:r>
              <a:rPr>
                <a:latin typeface="Helvetica Neue Light"/>
              </a:rPr>
              <a:t>"The hardest part of Python is managing Python itself"</a:t>
            </a:r>
          </a:p>
          <a:p>
            <a:pPr>
              <a:defRPr sz="1800">
                <a:solidFill>
                  <a:srgbClr val="3C3C3C"/>
                </a:solidFill>
                <a:latin typeface="Helvetica"/>
              </a:defRPr>
            </a:pPr>
            <a:r>
              <a:rPr>
                <a:latin typeface="Helvetica Neue Light"/>
              </a:rPr>
              <a:t>For years, Python developers have struggled with environment and package management. Each tool tried to solve the problem but introduced new complexities.</a:t>
            </a:r>
          </a:p>
        </p:txBody>
      </p:sp>
      <p:sp>
        <p:nvSpPr>
          <p:cNvPr id="5" name="Rectangle 4"/>
          <p:cNvSpPr/>
          <p:nvPr/>
        </p:nvSpPr>
        <p:spPr>
          <a:xfrm>
            <a:off x="8961120" y="1737360"/>
            <a:ext cx="2743200" cy="3474720"/>
          </a:xfrm>
          <a:prstGeom prst="rect">
            <a:avLst/>
          </a:prstGeom>
          <a:no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latin typeface="Helvetica"/>
              </a:defRPr>
            </a:pPr>
            <a:r>
              <a:rPr>
                <a:latin typeface="Helvetica Neue Light"/>
              </a:rPr>
              <a:t>Suggested image: a clean, high‑resolution conceptual diagram or icon‑based collage.</a:t>
            </a:r>
          </a:p>
          <a:p/>
          <a:p>
            <a:r>
              <a:rPr>
                <a:latin typeface="Helvetica Neue Light"/>
              </a:rPr>
              <a:t>Avoid screenshots with UI clutter. Prefer vector icons, architecture diagrams, or labeled concept illustrations that reinforce the idea rather than demonstrate steps.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a:latin typeface="Helvetica Neue Light"/>
              </a:rPr>
              <a:t>Enter uv: Modern Python Package Management</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a:latin typeface="Helvetica Neue Light"/>
              </a:rPr>
              <a:t>Released 2024 by Astral (creators of Ruff)</a:t>
            </a:r>
          </a:p>
          <a:p>
            <a:pPr>
              <a:defRPr sz="1800">
                <a:solidFill>
                  <a:srgbClr val="3C3C3C"/>
                </a:solidFill>
                <a:latin typeface="Helvetica"/>
              </a:defRPr>
            </a:pPr>
            <a:r>
              <a:rPr>
                <a:latin typeface="Helvetica Neue Light"/>
              </a:rPr>
              <a:t>uv represents a new approach to Python package management, designed from the ground up to be fast, simple, and reliable:</a:t>
            </a:r>
          </a:p>
          <a:p>
            <a:pPr>
              <a:defRPr sz="1800">
                <a:solidFill>
                  <a:srgbClr val="3C3C3C"/>
                </a:solidFill>
                <a:latin typeface="Helvetica"/>
              </a:defRPr>
            </a:pPr>
            <a:r>
              <a:rPr>
                <a:latin typeface="Helvetica Neue Light"/>
              </a:rPr>
              <a:t>Key Advantages:</a:t>
            </a:r>
          </a:p>
          <a:p>
            <a:pPr>
              <a:defRPr sz="1800">
                <a:solidFill>
                  <a:srgbClr val="3C3C3C"/>
                </a:solidFill>
                <a:latin typeface="Helvetica"/>
              </a:defRPr>
            </a:pPr>
            <a:r>
              <a:rPr>
                <a:latin typeface="Helvetica Neue Light"/>
              </a:rPr>
              <a:t>**Written in Rust**: 10-100x faster than pip</a:t>
            </a:r>
          </a:p>
          <a:p>
            <a:pPr>
              <a:defRPr sz="1800">
                <a:solidFill>
                  <a:srgbClr val="3C3C3C"/>
                </a:solidFill>
                <a:latin typeface="Helvetica"/>
              </a:defRPr>
            </a:pPr>
            <a:r>
              <a:rPr>
                <a:latin typeface="Helvetica Neue Light"/>
              </a:rPr>
              <a:t>**Unified tool**: Handles both packages AND environments</a:t>
            </a:r>
          </a:p>
          <a:p>
            <a:pPr>
              <a:defRPr sz="1800">
                <a:solidFill>
                  <a:srgbClr val="3C3C3C"/>
                </a:solidFill>
                <a:latin typeface="Helvetica"/>
              </a:defRPr>
            </a:pPr>
            <a:r>
              <a:rPr>
                <a:latin typeface="Helvetica Neue Light"/>
              </a:rPr>
              <a:t>**Simple, intuitive commands**: One way to do things</a:t>
            </a:r>
          </a:p>
          <a:p>
            <a:pPr>
              <a:defRPr sz="1800">
                <a:solidFill>
                  <a:srgbClr val="3C3C3C"/>
                </a:solidFill>
                <a:latin typeface="Helvetica"/>
              </a:defRPr>
            </a:pPr>
            <a:r>
              <a:rPr>
                <a:latin typeface="Helvetica Neue Light"/>
              </a:rPr>
              <a:t>**Compatible**: Works with pip and requirements.txt</a:t>
            </a:r>
          </a:p>
          <a:p>
            <a:pPr>
              <a:defRPr sz="1800">
                <a:solidFill>
                  <a:srgbClr val="3C3C3C"/>
                </a:solidFill>
                <a:latin typeface="Helvetica"/>
              </a:defRPr>
            </a:pPr>
            <a:r>
              <a:rPr>
                <a:latin typeface="Helvetica Neue Light"/>
              </a:rPr>
              <a:t>**Cross-platform**: Same experience on Mac, Windows, Linux</a:t>
            </a:r>
          </a:p>
          <a:p>
            <a:pPr>
              <a:defRPr sz="1800">
                <a:solidFill>
                  <a:srgbClr val="3C3C3C"/>
                </a:solidFill>
                <a:latin typeface="Helvetica"/>
              </a:defRPr>
            </a:pPr>
            <a:r>
              <a:rPr>
                <a:latin typeface="Helvetica Neue Light"/>
              </a:rPr>
              <a:t>**Free and open source**</a:t>
            </a:r>
          </a:p>
          <a:p>
            <a:pPr>
              <a:defRPr sz="1800">
                <a:solidFill>
                  <a:srgbClr val="3C3C3C"/>
                </a:solidFill>
                <a:latin typeface="Helvetica"/>
              </a:defRPr>
            </a:pPr>
            <a:r>
              <a:rPr>
                <a:latin typeface="Helvetica Neue Light"/>
              </a:rPr>
              <a:t>Why uv for this course:</a:t>
            </a:r>
          </a:p>
          <a:p>
            <a:pPr>
              <a:defRPr sz="1800">
                <a:solidFill>
                  <a:srgbClr val="3C3C3C"/>
                </a:solidFill>
                <a:latin typeface="Helvetica"/>
              </a:defRPr>
            </a:pPr>
            <a:r>
              <a:rPr>
                <a:latin typeface="Helvetica Neue Light"/>
              </a:rPr>
              <a:t>Fast enough you won't wait for installations</a:t>
            </a:r>
          </a:p>
          <a:p>
            <a:pPr>
              <a:defRPr sz="1800">
                <a:solidFill>
                  <a:srgbClr val="3C3C3C"/>
                </a:solidFill>
                <a:latin typeface="Helvetica"/>
              </a:defRPr>
            </a:pPr>
            <a:r>
              <a:rPr>
                <a:latin typeface="Helvetica Neue Light"/>
              </a:rPr>
              <a:t>Simple enough you won't get confused</a:t>
            </a:r>
          </a:p>
          <a:p>
            <a:pPr>
              <a:defRPr sz="1800">
                <a:solidFill>
                  <a:srgbClr val="3C3C3C"/>
                </a:solidFill>
                <a:latin typeface="Helvetica"/>
              </a:defRPr>
            </a:pPr>
            <a:r>
              <a:rPr>
                <a:latin typeface="Helvetica Neue Light"/>
              </a:rPr>
              <a:t>Modern and actively developed</a:t>
            </a:r>
          </a:p>
          <a:p>
            <a:pPr>
              <a:defRPr sz="1800">
                <a:solidFill>
                  <a:srgbClr val="3C3C3C"/>
                </a:solidFill>
                <a:latin typeface="Helvetica"/>
              </a:defRPr>
            </a:pPr>
            <a:r>
              <a:rPr>
                <a:latin typeface="Helvetica Neue Light"/>
              </a:rPr>
              <a:t>Solves practical problems that have plagued Python for years</a:t>
            </a:r>
          </a:p>
        </p:txBody>
      </p:sp>
      <p:sp>
        <p:nvSpPr>
          <p:cNvPr id="5" name="Rectangle 4"/>
          <p:cNvSpPr/>
          <p:nvPr/>
        </p:nvSpPr>
        <p:spPr>
          <a:xfrm>
            <a:off x="8961120" y="1737360"/>
            <a:ext cx="2743200" cy="3474720"/>
          </a:xfrm>
          <a:prstGeom prst="rect">
            <a:avLst/>
          </a:prstGeom>
          <a:no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latin typeface="Helvetica"/>
              </a:defRPr>
            </a:pPr>
            <a:r>
              <a:rPr>
                <a:latin typeface="Helvetica Neue Light"/>
              </a:rPr>
              <a:t>Suggested image: a clean, high‑resolution conceptual diagram or icon‑based collage.</a:t>
            </a:r>
          </a:p>
          <a:p/>
          <a:p>
            <a:r>
              <a:rPr>
                <a:latin typeface="Helvetica Neue Light"/>
              </a:rPr>
              <a:t>Avoid screenshots with UI clutter. Prefer vector icons, architecture diagrams, or labeled concept illustrations that reinforce the idea rather than demonstrate steps.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a:latin typeface="Helvetica Neue Light"/>
              </a:rPr>
              <a:t>uv Workflow</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a:latin typeface="Helvetica Neue Light"/>
              </a:rPr>
              <a:t>Creating a Project</a:t>
            </a:r>
          </a:p>
          <a:p>
            <a:pPr lvl="1">
              <a:defRPr sz="1600">
                <a:solidFill>
                  <a:srgbClr val="3C3C3C"/>
                </a:solidFill>
                <a:latin typeface="Courier New"/>
              </a:defRPr>
            </a:pPr>
            <a:r>
              <a:rPr>
                <a:latin typeface="Helvetica Neue Light"/>
              </a:rPr>
              <a:t># Create project directory</a:t>
            </a:r>
          </a:p>
          <a:p>
            <a:pPr lvl="1">
              <a:defRPr sz="1600">
                <a:solidFill>
                  <a:srgbClr val="3C3C3C"/>
                </a:solidFill>
                <a:latin typeface="Courier New"/>
              </a:defRPr>
            </a:pPr>
            <a:r>
              <a:rPr>
                <a:latin typeface="Helvetica Neue Light"/>
              </a:rPr>
              <a:t>mkdir my-project</a:t>
            </a:r>
          </a:p>
          <a:p>
            <a:pPr lvl="1">
              <a:defRPr sz="1600">
                <a:solidFill>
                  <a:srgbClr val="3C3C3C"/>
                </a:solidFill>
                <a:latin typeface="Courier New"/>
              </a:defRPr>
            </a:pPr>
            <a:r>
              <a:rPr>
                <a:latin typeface="Helvetica Neue Light"/>
              </a:rPr>
              <a:t>cd my-project</a:t>
            </a:r>
          </a:p>
          <a:p>
            <a:pPr lvl="1">
              <a:defRPr sz="1600">
                <a:solidFill>
                  <a:srgbClr val="3C3C3C"/>
                </a:solidFill>
                <a:latin typeface="Courier New"/>
              </a:defRPr>
            </a:pPr>
            <a:r>
              <a:rPr>
                <a:latin typeface="Helvetica Neue Light"/>
              </a:rPr>
              <a:t># Initialize uv project (creates pyproject.toml)</a:t>
            </a:r>
          </a:p>
          <a:p>
            <a:pPr lvl="1">
              <a:defRPr sz="1600">
                <a:solidFill>
                  <a:srgbClr val="3C3C3C"/>
                </a:solidFill>
                <a:latin typeface="Courier New"/>
              </a:defRPr>
            </a:pPr>
            <a:r>
              <a:rPr>
                <a:latin typeface="Helvetica Neue Light"/>
              </a:rPr>
              <a:t>uv init</a:t>
            </a:r>
          </a:p>
          <a:p>
            <a:pPr lvl="1">
              <a:defRPr sz="1600">
                <a:solidFill>
                  <a:srgbClr val="3C3C3C"/>
                </a:solidFill>
                <a:latin typeface="Courier New"/>
              </a:defRPr>
            </a:pPr>
            <a:r>
              <a:rPr>
                <a:latin typeface="Helvetica Neue Light"/>
              </a:rPr>
              <a:t># Create virtual environment</a:t>
            </a:r>
          </a:p>
          <a:p>
            <a:pPr lvl="1">
              <a:defRPr sz="1600">
                <a:solidFill>
                  <a:srgbClr val="3C3C3C"/>
                </a:solidFill>
                <a:latin typeface="Courier New"/>
              </a:defRPr>
            </a:pPr>
            <a:r>
              <a:rPr>
                <a:latin typeface="Helvetica Neue Light"/>
              </a:rPr>
              <a:t>uv venv</a:t>
            </a:r>
          </a:p>
          <a:p>
            <a:pPr lvl="1">
              <a:defRPr sz="1600">
                <a:solidFill>
                  <a:srgbClr val="3C3C3C"/>
                </a:solidFill>
                <a:latin typeface="Courier New"/>
              </a:defRPr>
            </a:pPr>
            <a:r>
              <a:rPr>
                <a:latin typeface="Helvetica Neue Light"/>
              </a:rPr>
              <a:t># Activate environment</a:t>
            </a:r>
          </a:p>
          <a:p>
            <a:pPr lvl="1">
              <a:defRPr sz="1600">
                <a:solidFill>
                  <a:srgbClr val="3C3C3C"/>
                </a:solidFill>
                <a:latin typeface="Courier New"/>
              </a:defRPr>
            </a:pPr>
            <a:r>
              <a:rPr>
                <a:latin typeface="Helvetica Neue Light"/>
              </a:rPr>
              <a:t>source .venv/bin/activate    # Mac/Linux</a:t>
            </a:r>
          </a:p>
          <a:p>
            <a:pPr lvl="1">
              <a:defRPr sz="1600">
                <a:solidFill>
                  <a:srgbClr val="3C3C3C"/>
                </a:solidFill>
                <a:latin typeface="Courier New"/>
              </a:defRPr>
            </a:pPr>
            <a:r>
              <a:rPr>
                <a:latin typeface="Helvetica Neue Light"/>
              </a:rPr>
              <a:t>.venv\Scripts\activate       # Windows</a:t>
            </a:r>
          </a:p>
          <a:p>
            <a:pPr>
              <a:defRPr sz="1800">
                <a:solidFill>
                  <a:srgbClr val="3C3C3C"/>
                </a:solidFill>
                <a:latin typeface="Helvetica"/>
              </a:defRPr>
            </a:pPr>
            <a:r>
              <a:rPr>
                <a:latin typeface="Helvetica Neue Light"/>
              </a:rPr>
              <a:t>Installing Packages</a:t>
            </a:r>
          </a:p>
          <a:p>
            <a:pPr lvl="1">
              <a:defRPr sz="1600">
                <a:solidFill>
                  <a:srgbClr val="3C3C3C"/>
                </a:solidFill>
                <a:latin typeface="Courier New"/>
              </a:defRPr>
            </a:pPr>
            <a:r>
              <a:rPr>
                <a:latin typeface="Helvetica Neue Light"/>
              </a:rPr>
              <a:t># Add packages to project</a:t>
            </a:r>
          </a:p>
          <a:p>
            <a:pPr lvl="1">
              <a:defRPr sz="1600">
                <a:solidFill>
                  <a:srgbClr val="3C3C3C"/>
                </a:solidFill>
                <a:latin typeface="Courier New"/>
              </a:defRPr>
            </a:pPr>
            <a:r>
              <a:rPr>
                <a:latin typeface="Helvetica Neue Light"/>
              </a:rPr>
              <a:t>uv add pandas numpy matplotlib</a:t>
            </a:r>
          </a:p>
          <a:p>
            <a:pPr lvl="1">
              <a:defRPr sz="1600">
                <a:solidFill>
                  <a:srgbClr val="3C3C3C"/>
                </a:solidFill>
                <a:latin typeface="Courier New"/>
              </a:defRPr>
            </a:pPr>
            <a:r>
              <a:rPr>
                <a:latin typeface="Helvetica Neue Light"/>
              </a:rPr>
              <a:t># Or install with pip interface</a:t>
            </a:r>
          </a:p>
          <a:p>
            <a:pPr lvl="1">
              <a:defRPr sz="1600">
                <a:solidFill>
                  <a:srgbClr val="3C3C3C"/>
                </a:solidFill>
                <a:latin typeface="Courier New"/>
              </a:defRPr>
            </a:pPr>
            <a:r>
              <a:rPr>
                <a:latin typeface="Helvetica Neue Light"/>
              </a:rPr>
              <a:t>uv pip install pandas numpy matplotlib</a:t>
            </a:r>
          </a:p>
          <a:p>
            <a:pPr lvl="1">
              <a:defRPr sz="1600">
                <a:solidFill>
                  <a:srgbClr val="3C3C3C"/>
                </a:solidFill>
                <a:latin typeface="Courier New"/>
              </a:defRPr>
            </a:pPr>
            <a:r>
              <a:rPr>
                <a:latin typeface="Helvetica Neue Light"/>
              </a:rPr>
              <a:t># Install from requirements file</a:t>
            </a:r>
          </a:p>
          <a:p>
            <a:pPr lvl="1">
              <a:defRPr sz="1600">
                <a:solidFill>
                  <a:srgbClr val="3C3C3C"/>
                </a:solidFill>
                <a:latin typeface="Courier New"/>
              </a:defRPr>
            </a:pPr>
            <a:r>
              <a:rPr>
                <a:latin typeface="Helvetica Neue Light"/>
              </a:rPr>
              <a:t>uv pip install -r requirements.txt</a:t>
            </a:r>
          </a:p>
          <a:p>
            <a:pPr lvl="1">
              <a:defRPr sz="1600">
                <a:solidFill>
                  <a:srgbClr val="3C3C3C"/>
                </a:solidFill>
                <a:latin typeface="Courier New"/>
              </a:defRPr>
            </a:pPr>
            <a:r>
              <a:rPr>
                <a:latin typeface="Helvetica Neue Light"/>
              </a:rPr>
              <a:t># Save current packages</a:t>
            </a:r>
          </a:p>
          <a:p>
            <a:pPr lvl="1">
              <a:defRPr sz="1600">
                <a:solidFill>
                  <a:srgbClr val="3C3C3C"/>
                </a:solidFill>
                <a:latin typeface="Courier New"/>
              </a:defRPr>
            </a:pPr>
            <a:r>
              <a:rPr>
                <a:latin typeface="Helvetica Neue Light"/>
              </a:rPr>
              <a:t>uv pip freeze &gt; requirements.txt</a:t>
            </a:r>
          </a:p>
          <a:p>
            <a:pPr>
              <a:defRPr sz="1800">
                <a:solidFill>
                  <a:srgbClr val="3C3C3C"/>
                </a:solidFill>
                <a:latin typeface="Helvetica"/>
              </a:defRPr>
            </a:pPr>
            <a:r>
              <a:rPr>
                <a:latin typeface="Helvetica Neue Light"/>
              </a:rPr>
              <a:t>How It Works:</a:t>
            </a:r>
          </a:p>
          <a:p>
            <a:pPr>
              <a:defRPr sz="1800">
                <a:solidFill>
                  <a:srgbClr val="3C3C3C"/>
                </a:solidFill>
                <a:latin typeface="Helvetica"/>
              </a:defRPr>
            </a:pPr>
            <a:r>
              <a:rPr>
                <a:latin typeface="Helvetica Neue Light"/>
              </a:rPr>
              <a:t>When you create a virtual environment, uv creates a `.venv` directory containing a complete Python installation. When activated, your shell uses this isolated Python instead of your system Python.</a:t>
            </a:r>
          </a:p>
        </p:txBody>
      </p:sp>
      <p:sp>
        <p:nvSpPr>
          <p:cNvPr id="5" name="Rectangle 4"/>
          <p:cNvSpPr/>
          <p:nvPr/>
        </p:nvSpPr>
        <p:spPr>
          <a:xfrm>
            <a:off x="8961120" y="1737360"/>
            <a:ext cx="2743200" cy="3474720"/>
          </a:xfrm>
          <a:prstGeom prst="rect">
            <a:avLst/>
          </a:prstGeom>
          <a:no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latin typeface="Helvetica"/>
              </a:defRPr>
            </a:pPr>
            <a:r>
              <a:rPr>
                <a:latin typeface="Helvetica Neue Light"/>
              </a:rPr>
              <a:t>Suggested image: a clean, high‑resolution conceptual diagram or icon‑based collage.</a:t>
            </a:r>
          </a:p>
          <a:p/>
          <a:p>
            <a:r>
              <a:rPr>
                <a:latin typeface="Helvetica Neue Light"/>
              </a:rPr>
              <a:t>Avoid screenshots with UI clutter. Prefer vector icons, architecture diagrams, or labeled concept illustrations that reinforce the idea rather than demonstrate steps.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a:latin typeface="Helvetica Neue Light"/>
              </a:rPr>
              <a:t>Part 3: VSCode - The Modern Code Editor</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a:latin typeface="Helvetica Neue Light"/>
              </a:rPr>
              <a:t>Evolution of Code Editors</a:t>
            </a:r>
          </a:p>
          <a:p>
            <a:pPr>
              <a:defRPr sz="1800">
                <a:solidFill>
                  <a:srgbClr val="3C3C3C"/>
                </a:solidFill>
                <a:latin typeface="Helvetica"/>
              </a:defRPr>
            </a:pPr>
            <a:r>
              <a:rPr>
                <a:latin typeface="Helvetica Neue Light"/>
              </a:rPr>
              <a:t>The history of code editors shows a progression toward more integrated, user-friendly tools:</a:t>
            </a:r>
          </a:p>
          <a:p>
            <a:pPr>
              <a:defRPr sz="1800">
                <a:solidFill>
                  <a:srgbClr val="3C3C3C"/>
                </a:solidFill>
                <a:latin typeface="Helvetica"/>
              </a:defRPr>
            </a:pPr>
            <a:r>
              <a:rPr>
                <a:latin typeface="Helvetica Neue Light"/>
              </a:rPr>
              <a:t>**1970s-1980s**: vi, Emacs (terminal-based, steep learning curve)</a:t>
            </a:r>
          </a:p>
          <a:p>
            <a:pPr>
              <a:defRPr sz="1800">
                <a:solidFill>
                  <a:srgbClr val="3C3C3C"/>
                </a:solidFill>
                <a:latin typeface="Helvetica"/>
              </a:defRPr>
            </a:pPr>
            <a:r>
              <a:rPr>
                <a:latin typeface="Helvetica Neue Light"/>
              </a:rPr>
              <a:t>**1990s-2000s**: Eclipse, Visual Studio (heavy IDEs, slow, language-specific)</a:t>
            </a:r>
          </a:p>
          <a:p>
            <a:pPr>
              <a:defRPr sz="1800">
                <a:solidFill>
                  <a:srgbClr val="3C3C3C"/>
                </a:solidFill>
                <a:latin typeface="Helvetica"/>
              </a:defRPr>
            </a:pPr>
            <a:r>
              <a:rPr>
                <a:latin typeface="Helvetica Neue Light"/>
              </a:rPr>
              <a:t>**2010s**: Sublime Text, Atom (lightweight, fast, but limited features)</a:t>
            </a:r>
          </a:p>
          <a:p>
            <a:pPr>
              <a:defRPr sz="1800">
                <a:solidFill>
                  <a:srgbClr val="3C3C3C"/>
                </a:solidFill>
                <a:latin typeface="Helvetica"/>
              </a:defRPr>
            </a:pPr>
            <a:r>
              <a:rPr>
                <a:latin typeface="Helvetica Neue Light"/>
              </a:rPr>
              <a:t>**2015-present**: VSCode (the winner)</a:t>
            </a:r>
          </a:p>
          <a:p>
            <a:pPr>
              <a:defRPr sz="1800">
                <a:solidFill>
                  <a:srgbClr val="3C3C3C"/>
                </a:solidFill>
                <a:latin typeface="Helvetica"/>
              </a:defRPr>
            </a:pPr>
            <a:r>
              <a:rPr>
                <a:latin typeface="Helvetica Neue Light"/>
              </a:rPr>
              <a:t>Why VSCode Won:</a:t>
            </a:r>
          </a:p>
          <a:p>
            <a:pPr>
              <a:defRPr sz="1800">
                <a:solidFill>
                  <a:srgbClr val="3C3C3C"/>
                </a:solidFill>
                <a:latin typeface="Helvetica"/>
              </a:defRPr>
            </a:pPr>
            <a:r>
              <a:rPr>
                <a:latin typeface="Helvetica Neue Light"/>
              </a:rPr>
              <a:t>**Free and open source** (Microsoft)</a:t>
            </a:r>
          </a:p>
          <a:p>
            <a:pPr>
              <a:defRPr sz="1800">
                <a:solidFill>
                  <a:srgbClr val="3C3C3C"/>
                </a:solidFill>
                <a:latin typeface="Helvetica"/>
              </a:defRPr>
            </a:pPr>
            <a:r>
              <a:rPr>
                <a:latin typeface="Helvetica Neue Light"/>
              </a:rPr>
              <a:t>**Fast and lightweight** (built on Electron)</a:t>
            </a:r>
          </a:p>
          <a:p>
            <a:pPr>
              <a:defRPr sz="1800">
                <a:solidFill>
                  <a:srgbClr val="3C3C3C"/>
                </a:solidFill>
                <a:latin typeface="Helvetica"/>
              </a:defRPr>
            </a:pPr>
            <a:r>
              <a:rPr>
                <a:latin typeface="Helvetica Neue Light"/>
              </a:rPr>
              <a:t>**Massive extension ecosystem** (JavaScript-based extensions)</a:t>
            </a:r>
          </a:p>
          <a:p>
            <a:pPr>
              <a:defRPr sz="1800">
                <a:solidFill>
                  <a:srgbClr val="3C3C3C"/>
                </a:solidFill>
                <a:latin typeface="Helvetica"/>
              </a:defRPr>
            </a:pPr>
            <a:r>
              <a:rPr>
                <a:latin typeface="Helvetica Neue Light"/>
              </a:rPr>
              <a:t>**Cross-platform** (Mac, Windows, Linux)</a:t>
            </a:r>
          </a:p>
          <a:p>
            <a:pPr>
              <a:defRPr sz="1800">
                <a:solidFill>
                  <a:srgbClr val="3C3C3C"/>
                </a:solidFill>
                <a:latin typeface="Helvetica"/>
              </a:defRPr>
            </a:pPr>
            <a:r>
              <a:rPr>
                <a:latin typeface="Helvetica Neue Light"/>
              </a:rPr>
              <a:t>**Strikes perfect balance** between lightweight and feature-rich</a:t>
            </a:r>
          </a:p>
        </p:txBody>
      </p:sp>
      <p:sp>
        <p:nvSpPr>
          <p:cNvPr id="5" name="Rectangle 4"/>
          <p:cNvSpPr/>
          <p:nvPr/>
        </p:nvSpPr>
        <p:spPr>
          <a:xfrm>
            <a:off x="8961120" y="1737360"/>
            <a:ext cx="2743200" cy="3474720"/>
          </a:xfrm>
          <a:prstGeom prst="rect">
            <a:avLst/>
          </a:prstGeom>
          <a:no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latin typeface="Helvetica"/>
              </a:defRPr>
            </a:pPr>
            <a:r>
              <a:rPr>
                <a:latin typeface="Helvetica Neue Light"/>
              </a:rPr>
              <a:t>Suggested image: a clean, high‑resolution conceptual diagram or icon‑based collage.</a:t>
            </a:r>
          </a:p>
          <a:p/>
          <a:p>
            <a:r>
              <a:rPr>
                <a:latin typeface="Helvetica Neue Light"/>
              </a:rPr>
              <a:t>Avoid screenshots with UI clutter. Prefer vector icons, architecture diagrams, or labeled concept illustrations that reinforce the idea rather than demonstrate steps.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a:latin typeface="Helvetica Neue Light"/>
              </a:rPr>
              <a:t>Why VSCode for Data Science</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a:latin typeface="Helvetica Neue Light"/>
              </a:rPr>
              <a:t>Integrated Workflow - Everything in One Place</a:t>
            </a:r>
          </a:p>
          <a:p>
            <a:pPr>
              <a:defRPr sz="1800">
                <a:solidFill>
                  <a:srgbClr val="3C3C3C"/>
                </a:solidFill>
                <a:latin typeface="Helvetica"/>
              </a:defRPr>
            </a:pPr>
            <a:r>
              <a:rPr>
                <a:latin typeface="Helvetica Neue Light"/>
              </a:rPr>
              <a:t>VSCode offers a complete development environment without the complexity of traditional IDEs:</a:t>
            </a:r>
          </a:p>
          <a:p>
            <a:pPr>
              <a:defRPr sz="1800">
                <a:solidFill>
                  <a:srgbClr val="3C3C3C"/>
                </a:solidFill>
                <a:latin typeface="Helvetica"/>
              </a:defRPr>
            </a:pPr>
            <a:r>
              <a:rPr>
                <a:latin typeface="Helvetica Neue Light"/>
              </a:rPr>
              <a:t>Core Features:</a:t>
            </a:r>
          </a:p>
          <a:p>
            <a:pPr>
              <a:defRPr sz="1800">
                <a:solidFill>
                  <a:srgbClr val="3C3C3C"/>
                </a:solidFill>
                <a:latin typeface="Helvetica"/>
              </a:defRPr>
            </a:pPr>
            <a:r>
              <a:rPr>
                <a:latin typeface="Helvetica Neue Light"/>
              </a:rPr>
              <a:t>**Code editor** with syntax highlighting and IntelliSense</a:t>
            </a:r>
          </a:p>
          <a:p>
            <a:pPr>
              <a:defRPr sz="1800">
                <a:solidFill>
                  <a:srgbClr val="3C3C3C"/>
                </a:solidFill>
                <a:latin typeface="Helvetica"/>
              </a:defRPr>
            </a:pPr>
            <a:r>
              <a:rPr>
                <a:latin typeface="Helvetica Neue Light"/>
              </a:rPr>
              <a:t>**Integrated terminal** - run commands without leaving the editor</a:t>
            </a:r>
          </a:p>
          <a:p>
            <a:pPr>
              <a:defRPr sz="1800">
                <a:solidFill>
                  <a:srgbClr val="3C3C3C"/>
                </a:solidFill>
                <a:latin typeface="Helvetica"/>
              </a:defRPr>
            </a:pPr>
            <a:r>
              <a:rPr>
                <a:latin typeface="Helvetica Neue Light"/>
              </a:rPr>
              <a:t>**Git interface** - visual diff, staging, commits, push/pull</a:t>
            </a:r>
          </a:p>
          <a:p>
            <a:pPr>
              <a:defRPr sz="1800">
                <a:solidFill>
                  <a:srgbClr val="3C3C3C"/>
                </a:solidFill>
                <a:latin typeface="Helvetica"/>
              </a:defRPr>
            </a:pPr>
            <a:r>
              <a:rPr>
                <a:latin typeface="Helvetica Neue Light"/>
              </a:rPr>
              <a:t>**Jupyter notebook support** - run notebooks directly in VSCode</a:t>
            </a:r>
          </a:p>
          <a:p>
            <a:pPr>
              <a:defRPr sz="1800">
                <a:solidFill>
                  <a:srgbClr val="3C3C3C"/>
                </a:solidFill>
                <a:latin typeface="Helvetica"/>
              </a:defRPr>
            </a:pPr>
            <a:r>
              <a:rPr>
                <a:latin typeface="Helvetica Neue Light"/>
              </a:rPr>
              <a:t>**Debugger** - step through code and inspect variables</a:t>
            </a:r>
          </a:p>
          <a:p>
            <a:pPr>
              <a:defRPr sz="1800">
                <a:solidFill>
                  <a:srgbClr val="3C3C3C"/>
                </a:solidFill>
                <a:latin typeface="Helvetica"/>
              </a:defRPr>
            </a:pPr>
            <a:r>
              <a:rPr>
                <a:latin typeface="Helvetica Neue Light"/>
              </a:rPr>
              <a:t>**Extension ecosystem** - customize for your specific needs</a:t>
            </a:r>
          </a:p>
          <a:p>
            <a:pPr>
              <a:defRPr sz="1800">
                <a:solidFill>
                  <a:srgbClr val="3C3C3C"/>
                </a:solidFill>
                <a:latin typeface="Helvetica"/>
              </a:defRPr>
            </a:pPr>
            <a:r>
              <a:rPr>
                <a:latin typeface="Helvetica Neue Light"/>
              </a:rPr>
              <a:t>No Context Switching:</a:t>
            </a:r>
          </a:p>
          <a:p>
            <a:pPr>
              <a:defRPr sz="1800">
                <a:solidFill>
                  <a:srgbClr val="3C3C3C"/>
                </a:solidFill>
                <a:latin typeface="Helvetica"/>
              </a:defRPr>
            </a:pPr>
            <a:r>
              <a:rPr>
                <a:latin typeface="Helvetica Neue Light"/>
              </a:rPr>
              <a:t>Write code, run commands, commit to Git, use AI assistants - all without leaving VSCode. This integrated workflow dramatically improves productivity.</a:t>
            </a:r>
          </a:p>
          <a:p>
            <a:pPr>
              <a:defRPr sz="1800">
                <a:solidFill>
                  <a:srgbClr val="3C3C3C"/>
                </a:solidFill>
                <a:latin typeface="Helvetica"/>
              </a:defRPr>
            </a:pPr>
            <a:r>
              <a:rPr>
                <a:latin typeface="Helvetica Neue Light"/>
              </a:rPr>
              <a:t>Python-Specific Benefits:</a:t>
            </a:r>
          </a:p>
          <a:p>
            <a:pPr>
              <a:defRPr sz="1800">
                <a:solidFill>
                  <a:srgbClr val="3C3C3C"/>
                </a:solidFill>
                <a:latin typeface="Helvetica"/>
              </a:defRPr>
            </a:pPr>
            <a:r>
              <a:rPr>
                <a:latin typeface="Helvetica Neue Light"/>
              </a:rPr>
              <a:t>IntelliSense (intelligent code completion)</a:t>
            </a:r>
          </a:p>
          <a:p>
            <a:pPr>
              <a:defRPr sz="1800">
                <a:solidFill>
                  <a:srgbClr val="3C3C3C"/>
                </a:solidFill>
                <a:latin typeface="Helvetica"/>
              </a:defRPr>
            </a:pPr>
            <a:r>
              <a:rPr>
                <a:latin typeface="Helvetica Neue Light"/>
              </a:rPr>
              <a:t>Linting (automatic code quality checks)</a:t>
            </a:r>
          </a:p>
          <a:p>
            <a:pPr>
              <a:defRPr sz="1800">
                <a:solidFill>
                  <a:srgbClr val="3C3C3C"/>
                </a:solidFill>
                <a:latin typeface="Helvetica"/>
              </a:defRPr>
            </a:pPr>
            <a:r>
              <a:rPr>
                <a:latin typeface="Helvetica Neue Light"/>
              </a:rPr>
              <a:t>Formatting (automatic code style)</a:t>
            </a:r>
          </a:p>
          <a:p>
            <a:pPr>
              <a:defRPr sz="1800">
                <a:solidFill>
                  <a:srgbClr val="3C3C3C"/>
                </a:solidFill>
                <a:latin typeface="Helvetica"/>
              </a:defRPr>
            </a:pPr>
            <a:r>
              <a:rPr>
                <a:latin typeface="Helvetica Neue Light"/>
              </a:rPr>
              <a:t>Testing integration</a:t>
            </a:r>
          </a:p>
          <a:p>
            <a:pPr>
              <a:defRPr sz="1800">
                <a:solidFill>
                  <a:srgbClr val="3C3C3C"/>
                </a:solidFill>
                <a:latin typeface="Helvetica"/>
              </a:defRPr>
            </a:pPr>
            <a:r>
              <a:rPr>
                <a:latin typeface="Helvetica Neue Light"/>
              </a:rPr>
              <a:t>Virtual environment detection</a:t>
            </a:r>
          </a:p>
        </p:txBody>
      </p:sp>
      <p:sp>
        <p:nvSpPr>
          <p:cNvPr id="5" name="Rectangle 4"/>
          <p:cNvSpPr/>
          <p:nvPr/>
        </p:nvSpPr>
        <p:spPr>
          <a:xfrm>
            <a:off x="8961120" y="1737360"/>
            <a:ext cx="2743200" cy="3474720"/>
          </a:xfrm>
          <a:prstGeom prst="rect">
            <a:avLst/>
          </a:prstGeom>
          <a:no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latin typeface="Helvetica"/>
              </a:defRPr>
            </a:pPr>
            <a:r>
              <a:rPr>
                <a:latin typeface="Helvetica Neue Light"/>
              </a:rPr>
              <a:t>Suggested image: a clean, high‑resolution conceptual diagram or icon‑based collage.</a:t>
            </a:r>
          </a:p>
          <a:p/>
          <a:p>
            <a:r>
              <a:rPr>
                <a:latin typeface="Helvetica Neue Light"/>
              </a:rPr>
              <a:t>Avoid screenshots with UI clutter. Prefer vector icons, architecture diagrams, or labeled concept illustrations that reinforce the idea rather than demonstrate steps.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a:latin typeface="Helvetica Neue Light"/>
              </a:rPr>
              <a:t>Essential VSCode Extensions</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a:latin typeface="Helvetica Neue Light"/>
              </a:rPr>
              <a:t>Three Must-Have Extensions for This Course</a:t>
            </a:r>
          </a:p>
          <a:p>
            <a:pPr>
              <a:defRPr sz="1800">
                <a:solidFill>
                  <a:srgbClr val="3C3C3C"/>
                </a:solidFill>
                <a:latin typeface="Helvetica"/>
              </a:defRPr>
            </a:pPr>
            <a:r>
              <a:rPr>
                <a:latin typeface="Helvetica Neue Light"/>
              </a:rPr>
              <a:t>1. Python (Microsoft)</a:t>
            </a:r>
          </a:p>
          <a:p>
            <a:pPr>
              <a:defRPr sz="1800">
                <a:solidFill>
                  <a:srgbClr val="3C3C3C"/>
                </a:solidFill>
                <a:latin typeface="Helvetica"/>
              </a:defRPr>
            </a:pPr>
            <a:r>
              <a:rPr>
                <a:latin typeface="Helvetica Neue Light"/>
              </a:rPr>
              <a:t>Complete Python language support</a:t>
            </a:r>
          </a:p>
          <a:p>
            <a:pPr>
              <a:defRPr sz="1800">
                <a:solidFill>
                  <a:srgbClr val="3C3C3C"/>
                </a:solidFill>
                <a:latin typeface="Helvetica"/>
              </a:defRPr>
            </a:pPr>
            <a:r>
              <a:rPr>
                <a:latin typeface="Helvetica Neue Light"/>
              </a:rPr>
              <a:t>IntelliSense, debugging, linting, formatting</a:t>
            </a:r>
          </a:p>
          <a:p>
            <a:pPr>
              <a:defRPr sz="1800">
                <a:solidFill>
                  <a:srgbClr val="3C3C3C"/>
                </a:solidFill>
                <a:latin typeface="Helvetica"/>
              </a:defRPr>
            </a:pPr>
            <a:r>
              <a:rPr>
                <a:latin typeface="Helvetica Neue Light"/>
              </a:rPr>
              <a:t>Virtual environment integration</a:t>
            </a:r>
          </a:p>
          <a:p>
            <a:pPr>
              <a:defRPr sz="1800">
                <a:solidFill>
                  <a:srgbClr val="3C3C3C"/>
                </a:solidFill>
                <a:latin typeface="Helvetica"/>
              </a:defRPr>
            </a:pPr>
            <a:r>
              <a:rPr>
                <a:latin typeface="Helvetica Neue Light"/>
              </a:rPr>
              <a:t>Jupyter notebook support</a:t>
            </a:r>
          </a:p>
          <a:p>
            <a:pPr>
              <a:defRPr sz="1800">
                <a:solidFill>
                  <a:srgbClr val="3C3C3C"/>
                </a:solidFill>
                <a:latin typeface="Helvetica"/>
              </a:defRPr>
            </a:pPr>
            <a:r>
              <a:rPr>
                <a:latin typeface="Helvetica Neue Light"/>
              </a:rPr>
              <a:t>Testing framework integration</a:t>
            </a:r>
          </a:p>
          <a:p>
            <a:pPr>
              <a:defRPr sz="1800">
                <a:solidFill>
                  <a:srgbClr val="3C3C3C"/>
                </a:solidFill>
                <a:latin typeface="Helvetica"/>
              </a:defRPr>
            </a:pPr>
            <a:r>
              <a:rPr>
                <a:latin typeface="Helvetica Neue Light"/>
              </a:rPr>
              <a:t>2. Cline (Claude Code) - AI Assistant</a:t>
            </a:r>
          </a:p>
          <a:p>
            <a:pPr>
              <a:defRPr sz="1800">
                <a:solidFill>
                  <a:srgbClr val="3C3C3C"/>
                </a:solidFill>
                <a:latin typeface="Helvetica"/>
              </a:defRPr>
            </a:pPr>
            <a:r>
              <a:rPr>
                <a:latin typeface="Helvetica Neue Light"/>
              </a:rPr>
              <a:t>Open source AI coding assistant for VSCode</a:t>
            </a:r>
          </a:p>
          <a:p>
            <a:pPr>
              <a:defRPr sz="1800">
                <a:solidFill>
                  <a:srgbClr val="3C3C3C"/>
                </a:solidFill>
                <a:latin typeface="Helvetica"/>
              </a:defRPr>
            </a:pPr>
            <a:r>
              <a:rPr>
                <a:latin typeface="Helvetica Neue Light"/>
              </a:rPr>
              <a:t>Works with OpenRouter to access multiple LLM providers</a:t>
            </a:r>
          </a:p>
          <a:p>
            <a:pPr>
              <a:defRPr sz="1800">
                <a:solidFill>
                  <a:srgbClr val="3C3C3C"/>
                </a:solidFill>
                <a:latin typeface="Helvetica"/>
              </a:defRPr>
            </a:pPr>
            <a:r>
              <a:rPr>
                <a:latin typeface="Helvetica Neue Light"/>
              </a:rPr>
              <a:t>We'll configure it with Claude 3.5 Sonnet or free models</a:t>
            </a:r>
          </a:p>
          <a:p>
            <a:pPr>
              <a:defRPr sz="1800">
                <a:solidFill>
                  <a:srgbClr val="3C3C3C"/>
                </a:solidFill>
                <a:latin typeface="Helvetica"/>
              </a:defRPr>
            </a:pPr>
            <a:r>
              <a:rPr>
                <a:latin typeface="Helvetica Neue Light"/>
              </a:rPr>
              <a:t>Context-aware suggestions based on your codebase</a:t>
            </a:r>
          </a:p>
          <a:p>
            <a:pPr>
              <a:defRPr sz="1800">
                <a:solidFill>
                  <a:srgbClr val="3C3C3C"/>
                </a:solidFill>
                <a:latin typeface="Helvetica"/>
              </a:defRPr>
            </a:pPr>
            <a:r>
              <a:rPr>
                <a:latin typeface="Helvetica Neue Light"/>
              </a:rPr>
              <a:t>Code generation, explanation, debugging help</a:t>
            </a:r>
          </a:p>
          <a:p>
            <a:pPr>
              <a:defRPr sz="1800">
                <a:solidFill>
                  <a:srgbClr val="3C3C3C"/>
                </a:solidFill>
                <a:latin typeface="Helvetica"/>
              </a:defRPr>
            </a:pPr>
            <a:r>
              <a:rPr>
                <a:latin typeface="Helvetica Neue Light"/>
              </a:rPr>
              <a:t>Documentation writing assistance</a:t>
            </a:r>
          </a:p>
          <a:p>
            <a:pPr>
              <a:defRPr sz="1800">
                <a:solidFill>
                  <a:srgbClr val="3C3C3C"/>
                </a:solidFill>
                <a:latin typeface="Helvetica"/>
              </a:defRPr>
            </a:pPr>
            <a:r>
              <a:rPr>
                <a:latin typeface="Helvetica Neue Light"/>
              </a:rPr>
              <a:t>3. GitLens (Enhanced Git Integration)</a:t>
            </a:r>
          </a:p>
          <a:p>
            <a:pPr>
              <a:defRPr sz="1800">
                <a:solidFill>
                  <a:srgbClr val="3C3C3C"/>
                </a:solidFill>
                <a:latin typeface="Helvetica"/>
              </a:defRPr>
            </a:pPr>
            <a:r>
              <a:rPr>
                <a:latin typeface="Helvetica Neue Light"/>
              </a:rPr>
              <a:t>Visual Git history and blame annotations</a:t>
            </a:r>
          </a:p>
          <a:p>
            <a:pPr>
              <a:defRPr sz="1800">
                <a:solidFill>
                  <a:srgbClr val="3C3C3C"/>
                </a:solidFill>
                <a:latin typeface="Helvetica"/>
              </a:defRPr>
            </a:pPr>
            <a:r>
              <a:rPr>
                <a:latin typeface="Helvetica Neue Light"/>
              </a:rPr>
              <a:t>See who changed each line of code and when</a:t>
            </a:r>
          </a:p>
          <a:p>
            <a:pPr>
              <a:defRPr sz="1800">
                <a:solidFill>
                  <a:srgbClr val="3C3C3C"/>
                </a:solidFill>
                <a:latin typeface="Helvetica"/>
              </a:defRPr>
            </a:pPr>
            <a:r>
              <a:rPr>
                <a:latin typeface="Helvetica Neue Light"/>
              </a:rPr>
              <a:t>Branch comparison and visualization</a:t>
            </a:r>
          </a:p>
          <a:p>
            <a:pPr>
              <a:defRPr sz="1800">
                <a:solidFill>
                  <a:srgbClr val="3C3C3C"/>
                </a:solidFill>
                <a:latin typeface="Helvetica"/>
              </a:defRPr>
            </a:pPr>
            <a:r>
              <a:rPr>
                <a:latin typeface="Helvetica Neue Light"/>
              </a:rPr>
              <a:t>Commit history exploration</a:t>
            </a:r>
          </a:p>
          <a:p>
            <a:pPr>
              <a:defRPr sz="1800">
                <a:solidFill>
                  <a:srgbClr val="3C3C3C"/>
                </a:solidFill>
                <a:latin typeface="Helvetica"/>
              </a:defRPr>
            </a:pPr>
            <a:r>
              <a:rPr>
                <a:latin typeface="Helvetica Neue Light"/>
              </a:rPr>
              <a:t>Essential for understanding project evolution</a:t>
            </a:r>
          </a:p>
        </p:txBody>
      </p:sp>
      <p:sp>
        <p:nvSpPr>
          <p:cNvPr id="5" name="Rectangle 4"/>
          <p:cNvSpPr/>
          <p:nvPr/>
        </p:nvSpPr>
        <p:spPr>
          <a:xfrm>
            <a:off x="8961120" y="1737360"/>
            <a:ext cx="2743200" cy="3474720"/>
          </a:xfrm>
          <a:prstGeom prst="rect">
            <a:avLst/>
          </a:prstGeom>
          <a:no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latin typeface="Helvetica"/>
              </a:defRPr>
            </a:pPr>
            <a:r>
              <a:rPr>
                <a:latin typeface="Helvetica Neue Light"/>
              </a:rPr>
              <a:t>Suggested image: a clean, high‑resolution conceptual diagram or icon‑based collage.</a:t>
            </a:r>
          </a:p>
          <a:p/>
          <a:p>
            <a:r>
              <a:rPr>
                <a:latin typeface="Helvetica Neue Light"/>
              </a:rPr>
              <a:t>Avoid screenshots with UI clutter. Prefer vector icons, architecture diagrams, or labeled concept illustrations that reinforce the idea rather than demonstrate steps.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a:latin typeface="Helvetica Neue Light"/>
              </a:rPr>
              <a:t>Part 4: AI Coding Assistants</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a:latin typeface="Helvetica Neue Light"/>
              </a:rPr>
              <a:t>The AI Revolution in Software Development (2021-2026)</a:t>
            </a:r>
          </a:p>
          <a:p>
            <a:pPr>
              <a:defRPr sz="1800">
                <a:solidFill>
                  <a:srgbClr val="3C3C3C"/>
                </a:solidFill>
                <a:latin typeface="Helvetica"/>
              </a:defRPr>
            </a:pPr>
            <a:r>
              <a:rPr>
                <a:latin typeface="Helvetica Neue Light"/>
              </a:rPr>
              <a:t>The rise of AI coding assistants represents a fundamental shift in how we write software:</a:t>
            </a:r>
          </a:p>
          <a:p>
            <a:pPr>
              <a:defRPr sz="1800">
                <a:solidFill>
                  <a:srgbClr val="3C3C3C"/>
                </a:solidFill>
                <a:latin typeface="Helvetica"/>
              </a:defRPr>
            </a:pPr>
            <a:r>
              <a:rPr>
                <a:latin typeface="Helvetica Neue Light"/>
              </a:rPr>
              <a:t>Timeline:</a:t>
            </a:r>
          </a:p>
          <a:p>
            <a:pPr>
              <a:defRPr sz="1800">
                <a:solidFill>
                  <a:srgbClr val="3C3C3C"/>
                </a:solidFill>
                <a:latin typeface="Helvetica"/>
              </a:defRPr>
            </a:pPr>
            <a:r>
              <a:rPr>
                <a:latin typeface="Helvetica Neue Light"/>
              </a:rPr>
              <a:t>**2021**: GitHub Copilot launches (first mainstream AI assistant, paid)</a:t>
            </a:r>
          </a:p>
          <a:p>
            <a:pPr>
              <a:defRPr sz="1800">
                <a:solidFill>
                  <a:srgbClr val="3C3C3C"/>
                </a:solidFill>
                <a:latin typeface="Helvetica"/>
              </a:defRPr>
            </a:pPr>
            <a:r>
              <a:rPr>
                <a:latin typeface="Helvetica Neue Light"/>
              </a:rPr>
              <a:t>**2022-2023**: Explosion of alternatives from multiple companies</a:t>
            </a:r>
          </a:p>
          <a:p>
            <a:pPr>
              <a:defRPr sz="1800">
                <a:solidFill>
                  <a:srgbClr val="3C3C3C"/>
                </a:solidFill>
                <a:latin typeface="Helvetica"/>
              </a:defRPr>
            </a:pPr>
            <a:r>
              <a:rPr>
                <a:latin typeface="Helvetica Neue Light"/>
              </a:rPr>
              <a:t>**2024-2025**: Free tiers emerge, open source models become available</a:t>
            </a:r>
          </a:p>
          <a:p>
            <a:pPr>
              <a:defRPr sz="1800">
                <a:solidFill>
                  <a:srgbClr val="3C3C3C"/>
                </a:solidFill>
                <a:latin typeface="Helvetica"/>
              </a:defRPr>
            </a:pPr>
            <a:r>
              <a:rPr>
                <a:latin typeface="Helvetica Neue Light"/>
              </a:rPr>
              <a:t>**2026**: Standard practice in professional development</a:t>
            </a:r>
          </a:p>
          <a:p>
            <a:pPr>
              <a:defRPr sz="1800">
                <a:solidFill>
                  <a:srgbClr val="3C3C3C"/>
                </a:solidFill>
                <a:latin typeface="Helvetica"/>
              </a:defRPr>
            </a:pPr>
            <a:r>
              <a:rPr>
                <a:latin typeface="Helvetica Neue Light"/>
              </a:rPr>
              <a:t>Our Approach: Cline (Claude Code) + OpenRouter</a:t>
            </a:r>
          </a:p>
          <a:p>
            <a:pPr>
              <a:defRPr sz="1800">
                <a:solidFill>
                  <a:srgbClr val="3C3C3C"/>
                </a:solidFill>
                <a:latin typeface="Helvetica"/>
              </a:defRPr>
            </a:pPr>
            <a:r>
              <a:rPr>
                <a:latin typeface="Helvetica Neue Light"/>
              </a:rPr>
              <a:t>**Cline**: Open source VSCode extension (formerly Claude Dev)</a:t>
            </a:r>
          </a:p>
          <a:p>
            <a:pPr>
              <a:defRPr sz="1800">
                <a:solidFill>
                  <a:srgbClr val="3C3C3C"/>
                </a:solidFill>
                <a:latin typeface="Helvetica"/>
              </a:defRPr>
            </a:pPr>
            <a:r>
              <a:rPr>
                <a:latin typeface="Helvetica Neue Light"/>
              </a:rPr>
              <a:t>**OpenRouter**: API gateway to multiple LLM providers</a:t>
            </a:r>
          </a:p>
          <a:p>
            <a:pPr>
              <a:defRPr sz="1800">
                <a:solidFill>
                  <a:srgbClr val="3C3C3C"/>
                </a:solidFill>
                <a:latin typeface="Helvetica"/>
              </a:defRPr>
            </a:pPr>
            <a:r>
              <a:rPr>
                <a:latin typeface="Helvetica Neue Light"/>
              </a:rPr>
              <a:t>**Free tier available**: Generous free credits for new users</a:t>
            </a:r>
          </a:p>
          <a:p>
            <a:pPr>
              <a:defRPr sz="1800">
                <a:solidFill>
                  <a:srgbClr val="3C3C3C"/>
                </a:solidFill>
                <a:latin typeface="Helvetica"/>
              </a:defRPr>
            </a:pPr>
            <a:r>
              <a:rPr>
                <a:latin typeface="Helvetica Neue Light"/>
              </a:rPr>
              <a:t>**Multiple models**: Claude, GPT, Gemini, Llama, and more</a:t>
            </a:r>
          </a:p>
          <a:p>
            <a:pPr>
              <a:defRPr sz="1800">
                <a:solidFill>
                  <a:srgbClr val="3C3C3C"/>
                </a:solidFill>
                <a:latin typeface="Helvetica"/>
              </a:defRPr>
            </a:pPr>
            <a:r>
              <a:rPr>
                <a:latin typeface="Helvetica Neue Light"/>
              </a:rPr>
              <a:t>**Free models**: Several models with `:free` suffix (no credit card needed)</a:t>
            </a:r>
          </a:p>
          <a:p>
            <a:pPr>
              <a:defRPr sz="1800">
                <a:solidFill>
                  <a:srgbClr val="3C3C3C"/>
                </a:solidFill>
                <a:latin typeface="Helvetica"/>
              </a:defRPr>
            </a:pPr>
            <a:r>
              <a:rPr>
                <a:latin typeface="Helvetica Neue Light"/>
              </a:rPr>
              <a:t>**Context-aware**: Understands your codebase</a:t>
            </a:r>
          </a:p>
          <a:p>
            <a:pPr>
              <a:defRPr sz="1800">
                <a:solidFill>
                  <a:srgbClr val="3C3C3C"/>
                </a:solidFill>
                <a:latin typeface="Helvetica"/>
              </a:defRPr>
            </a:pPr>
            <a:r>
              <a:rPr>
                <a:latin typeface="Helvetica Neue Light"/>
              </a:rPr>
              <a:t>**Customizable**: Can switch providers and models easily</a:t>
            </a:r>
          </a:p>
        </p:txBody>
      </p:sp>
      <p:sp>
        <p:nvSpPr>
          <p:cNvPr id="5" name="Rectangle 4"/>
          <p:cNvSpPr/>
          <p:nvPr/>
        </p:nvSpPr>
        <p:spPr>
          <a:xfrm>
            <a:off x="8961120" y="1737360"/>
            <a:ext cx="2743200" cy="3474720"/>
          </a:xfrm>
          <a:prstGeom prst="rect">
            <a:avLst/>
          </a:prstGeom>
          <a:no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latin typeface="Helvetica"/>
              </a:defRPr>
            </a:pPr>
            <a:r>
              <a:rPr>
                <a:latin typeface="Helvetica Neue Light"/>
              </a:rPr>
              <a:t>Suggested image: a clean, high‑resolution conceptual diagram or icon‑based collage.</a:t>
            </a:r>
          </a:p>
          <a:p/>
          <a:p>
            <a:r>
              <a:rPr>
                <a:latin typeface="Helvetica Neue Light"/>
              </a:rPr>
              <a:t>Avoid screenshots with UI clutter. Prefer vector icons, architecture diagrams, or labeled concept illustrations that reinforce the idea rather than demonstrate steps.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a:latin typeface="Helvetica Neue Light"/>
              </a:rPr>
              <a:t>What AI Assistants Excel At</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a:latin typeface="Helvetica Neue Light"/>
              </a:rPr>
              <a:t>Tasks Where AI Provides Dramatic Speedup</a:t>
            </a:r>
          </a:p>
          <a:p>
            <a:pPr>
              <a:defRPr sz="1800">
                <a:solidFill>
                  <a:srgbClr val="3C3C3C"/>
                </a:solidFill>
                <a:latin typeface="Helvetica"/>
              </a:defRPr>
            </a:pPr>
            <a:r>
              <a:rPr>
                <a:latin typeface="Helvetica Neue Light"/>
              </a:rPr>
              <a:t>AI assistants are particularly good at certain types of coding tasks:</a:t>
            </a:r>
          </a:p>
          <a:p>
            <a:pPr>
              <a:defRPr sz="1800">
                <a:solidFill>
                  <a:srgbClr val="3C3C3C"/>
                </a:solidFill>
                <a:latin typeface="Helvetica"/>
              </a:defRPr>
            </a:pPr>
            <a:r>
              <a:rPr>
                <a:latin typeface="Helvetica Neue Light"/>
              </a:rPr>
              <a:t>Code Generation:</a:t>
            </a:r>
          </a:p>
          <a:p>
            <a:pPr>
              <a:defRPr sz="1800">
                <a:solidFill>
                  <a:srgbClr val="3C3C3C"/>
                </a:solidFill>
                <a:latin typeface="Helvetica"/>
              </a:defRPr>
            </a:pPr>
            <a:r>
              <a:rPr>
                <a:latin typeface="Helvetica Neue Light"/>
              </a:rPr>
              <a:t>**Boilerplate code** - repetitive, standard code every project needs</a:t>
            </a:r>
          </a:p>
          <a:p>
            <a:pPr>
              <a:defRPr sz="1800">
                <a:solidFill>
                  <a:srgbClr val="3C3C3C"/>
                </a:solidFill>
                <a:latin typeface="Helvetica"/>
              </a:defRPr>
            </a:pPr>
            <a:r>
              <a:rPr>
                <a:latin typeface="Helvetica Neue Light"/>
              </a:rPr>
              <a:t>**Syntax help** - when you know what to do but can't remember exact syntax</a:t>
            </a:r>
          </a:p>
          <a:p>
            <a:pPr>
              <a:defRPr sz="1800">
                <a:solidFill>
                  <a:srgbClr val="3C3C3C"/>
                </a:solidFill>
                <a:latin typeface="Helvetica"/>
              </a:defRPr>
            </a:pPr>
            <a:r>
              <a:rPr>
                <a:latin typeface="Helvetica Neue Light"/>
              </a:rPr>
              <a:t>**Function scaffolding** - creating function signatures and basic structure</a:t>
            </a:r>
          </a:p>
          <a:p>
            <a:pPr>
              <a:defRPr sz="1800">
                <a:solidFill>
                  <a:srgbClr val="3C3C3C"/>
                </a:solidFill>
                <a:latin typeface="Helvetica"/>
              </a:defRPr>
            </a:pPr>
            <a:r>
              <a:rPr>
                <a:latin typeface="Helvetica Neue Light"/>
              </a:rPr>
              <a:t>Code Understanding:</a:t>
            </a:r>
          </a:p>
          <a:p>
            <a:pPr>
              <a:defRPr sz="1800">
                <a:solidFill>
                  <a:srgbClr val="3C3C3C"/>
                </a:solidFill>
                <a:latin typeface="Helvetica"/>
              </a:defRPr>
            </a:pPr>
            <a:r>
              <a:rPr>
                <a:latin typeface="Helvetica Neue Light"/>
              </a:rPr>
              <a:t>**Explaining unfamiliar code** - especially useful with new libraries</a:t>
            </a:r>
          </a:p>
          <a:p>
            <a:pPr>
              <a:defRPr sz="1800">
                <a:solidFill>
                  <a:srgbClr val="3C3C3C"/>
                </a:solidFill>
                <a:latin typeface="Helvetica"/>
              </a:defRPr>
            </a:pPr>
            <a:r>
              <a:rPr>
                <a:latin typeface="Helvetica Neue Light"/>
              </a:rPr>
              <a:t>**Documentation generation** - docstrings, comments, README files</a:t>
            </a:r>
          </a:p>
          <a:p>
            <a:pPr>
              <a:defRPr sz="1800">
                <a:solidFill>
                  <a:srgbClr val="3C3C3C"/>
                </a:solidFill>
                <a:latin typeface="Helvetica"/>
              </a:defRPr>
            </a:pPr>
            <a:r>
              <a:rPr>
                <a:latin typeface="Helvetica Neue Light"/>
              </a:rPr>
              <a:t>**Code translation** - converting between languages or formats</a:t>
            </a:r>
          </a:p>
          <a:p>
            <a:pPr>
              <a:defRPr sz="1800">
                <a:solidFill>
                  <a:srgbClr val="3C3C3C"/>
                </a:solidFill>
                <a:latin typeface="Helvetica"/>
              </a:defRPr>
            </a:pPr>
            <a:r>
              <a:rPr>
                <a:latin typeface="Helvetica Neue Light"/>
              </a:rPr>
              <a:t>Development Tasks:</a:t>
            </a:r>
          </a:p>
          <a:p>
            <a:pPr>
              <a:defRPr sz="1800">
                <a:solidFill>
                  <a:srgbClr val="3C3C3C"/>
                </a:solidFill>
                <a:latin typeface="Helvetica"/>
              </a:defRPr>
            </a:pPr>
            <a:r>
              <a:rPr>
                <a:latin typeface="Helvetica Neue Light"/>
              </a:rPr>
              <a:t>**Unit test generation** - creating test cases for your functions</a:t>
            </a:r>
          </a:p>
          <a:p>
            <a:pPr>
              <a:defRPr sz="1800">
                <a:solidFill>
                  <a:srgbClr val="3C3C3C"/>
                </a:solidFill>
                <a:latin typeface="Helvetica"/>
              </a:defRPr>
            </a:pPr>
            <a:r>
              <a:rPr>
                <a:latin typeface="Helvetica Neue Light"/>
              </a:rPr>
              <a:t>**Debugging simple errors** - explaining what went wrong</a:t>
            </a:r>
          </a:p>
          <a:p>
            <a:pPr>
              <a:defRPr sz="1800">
                <a:solidFill>
                  <a:srgbClr val="3C3C3C"/>
                </a:solidFill>
                <a:latin typeface="Helvetica"/>
              </a:defRPr>
            </a:pPr>
            <a:r>
              <a:rPr>
                <a:latin typeface="Helvetica Neue Light"/>
              </a:rPr>
              <a:t>**Code improvements** - suggesting more efficient or readable approaches</a:t>
            </a:r>
          </a:p>
          <a:p>
            <a:pPr>
              <a:defRPr sz="1800">
                <a:solidFill>
                  <a:srgbClr val="3C3C3C"/>
                </a:solidFill>
                <a:latin typeface="Helvetica"/>
              </a:defRPr>
            </a:pPr>
            <a:r>
              <a:rPr>
                <a:latin typeface="Helvetica Neue Light"/>
              </a:rPr>
              <a:t>**Refactoring** - restructuring code while maintaining functionality</a:t>
            </a:r>
          </a:p>
          <a:p>
            <a:pPr>
              <a:defRPr sz="1800">
                <a:solidFill>
                  <a:srgbClr val="3C3C3C"/>
                </a:solidFill>
                <a:latin typeface="Helvetica"/>
              </a:defRPr>
            </a:pPr>
            <a:r>
              <a:rPr>
                <a:latin typeface="Helvetica Neue Light"/>
              </a:rPr>
              <a:t>The Result: Tasks that might take 30 minutes of documentation lookup and typing can be done in 30 seconds with AI assistance.</a:t>
            </a:r>
          </a:p>
        </p:txBody>
      </p:sp>
      <p:sp>
        <p:nvSpPr>
          <p:cNvPr id="5" name="Rectangle 4"/>
          <p:cNvSpPr/>
          <p:nvPr/>
        </p:nvSpPr>
        <p:spPr>
          <a:xfrm>
            <a:off x="8961120" y="1737360"/>
            <a:ext cx="2743200" cy="3474720"/>
          </a:xfrm>
          <a:prstGeom prst="rect">
            <a:avLst/>
          </a:prstGeom>
          <a:no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latin typeface="Helvetica"/>
              </a:defRPr>
            </a:pPr>
            <a:r>
              <a:rPr>
                <a:latin typeface="Helvetica Neue Light"/>
              </a:rPr>
              <a:t>Suggested image: a clean, high‑resolution conceptual diagram or icon‑based collage.</a:t>
            </a:r>
          </a:p>
          <a:p/>
          <a:p>
            <a:r>
              <a:rPr>
                <a:latin typeface="Helvetica Neue Light"/>
              </a:rPr>
              <a:t>Avoid screenshots with UI clutter. Prefer vector icons, architecture diagrams, or labeled concept illustrations that reinforce the idea rather than demonstrate steps.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a:latin typeface="Helvetica Neue Light"/>
              </a:rPr>
              <a:t>What AI Assistants Cannot Do</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a:latin typeface="Helvetica Neue Light"/>
              </a:rPr>
              <a:t>Significant Limitations You Must Understand</a:t>
            </a:r>
          </a:p>
          <a:p>
            <a:pPr>
              <a:defRPr sz="1800">
                <a:solidFill>
                  <a:srgbClr val="3C3C3C"/>
                </a:solidFill>
                <a:latin typeface="Helvetica"/>
              </a:defRPr>
            </a:pPr>
            <a:r>
              <a:rPr>
                <a:latin typeface="Helvetica Neue Light"/>
              </a:rPr>
              <a:t>AI assistants have important limitations that mean you're still responsible for the critical aspects of development:</a:t>
            </a:r>
          </a:p>
          <a:p>
            <a:pPr>
              <a:defRPr sz="1800">
                <a:solidFill>
                  <a:srgbClr val="3C3C3C"/>
                </a:solidFill>
                <a:latin typeface="Helvetica"/>
              </a:defRPr>
            </a:pPr>
            <a:r>
              <a:rPr>
                <a:latin typeface="Helvetica Neue Light"/>
              </a:rPr>
              <a:t>Context Limitations:</a:t>
            </a:r>
          </a:p>
          <a:p>
            <a:pPr>
              <a:defRPr sz="1800">
                <a:solidFill>
                  <a:srgbClr val="3C3C3C"/>
                </a:solidFill>
                <a:latin typeface="Helvetica"/>
              </a:defRPr>
            </a:pPr>
            <a:r>
              <a:rPr>
                <a:latin typeface="Helvetica Neue Light"/>
              </a:rPr>
              <a:t>**Don't understand your full system** - only see code you show them</a:t>
            </a:r>
          </a:p>
          <a:p>
            <a:pPr>
              <a:defRPr sz="1800">
                <a:solidFill>
                  <a:srgbClr val="3C3C3C"/>
                </a:solidFill>
                <a:latin typeface="Helvetica"/>
              </a:defRPr>
            </a:pPr>
            <a:r>
              <a:rPr>
                <a:latin typeface="Helvetica Neue Light"/>
              </a:rPr>
              <a:t>**Can't make architectural decisions** - don't understand long-term implications</a:t>
            </a:r>
          </a:p>
          <a:p>
            <a:pPr>
              <a:defRPr sz="1800">
                <a:solidFill>
                  <a:srgbClr val="3C3C3C"/>
                </a:solidFill>
                <a:latin typeface="Helvetica"/>
              </a:defRPr>
            </a:pPr>
            <a:r>
              <a:rPr>
                <a:latin typeface="Helvetica Neue Light"/>
              </a:rPr>
              <a:t>**Don't know your requirements** - can only work with what you tell them</a:t>
            </a:r>
          </a:p>
          <a:p>
            <a:pPr>
              <a:defRPr sz="1800">
                <a:solidFill>
                  <a:srgbClr val="3C3C3C"/>
                </a:solidFill>
                <a:latin typeface="Helvetica"/>
              </a:defRPr>
            </a:pPr>
            <a:r>
              <a:rPr>
                <a:latin typeface="Helvetica Neue Light"/>
              </a:rPr>
              <a:t>Technical Limitations:</a:t>
            </a:r>
          </a:p>
          <a:p>
            <a:pPr>
              <a:defRPr sz="1800">
                <a:solidFill>
                  <a:srgbClr val="3C3C3C"/>
                </a:solidFill>
                <a:latin typeface="Helvetica"/>
              </a:defRPr>
            </a:pPr>
            <a:r>
              <a:rPr>
                <a:latin typeface="Helvetica Neue Light"/>
              </a:rPr>
              <a:t>**Struggle with domain-specific logic** - especially in specialized fields</a:t>
            </a:r>
          </a:p>
          <a:p>
            <a:pPr>
              <a:defRPr sz="1800">
                <a:solidFill>
                  <a:srgbClr val="3C3C3C"/>
                </a:solidFill>
                <a:latin typeface="Helvetica"/>
              </a:defRPr>
            </a:pPr>
            <a:r>
              <a:rPr>
                <a:latin typeface="Helvetica Neue Light"/>
              </a:rPr>
              <a:t>**Can't debug complex interactions** - between multiple systems</a:t>
            </a:r>
          </a:p>
          <a:p>
            <a:pPr>
              <a:defRPr sz="1800">
                <a:solidFill>
                  <a:srgbClr val="3C3C3C"/>
                </a:solidFill>
                <a:latin typeface="Helvetica"/>
              </a:defRPr>
            </a:pPr>
            <a:r>
              <a:rPr>
                <a:latin typeface="Helvetica Neue Light"/>
              </a:rPr>
              <a:t>**Don't understand security implications** - or performance at scale</a:t>
            </a:r>
          </a:p>
          <a:p>
            <a:pPr>
              <a:defRPr sz="1800">
                <a:solidFill>
                  <a:srgbClr val="3C3C3C"/>
                </a:solidFill>
                <a:latin typeface="Helvetica"/>
              </a:defRPr>
            </a:pPr>
            <a:r>
              <a:rPr>
                <a:latin typeface="Helvetica Neue Light"/>
              </a:rPr>
              <a:t>**May suggest outdated approaches** - training data has cutoff dates</a:t>
            </a:r>
          </a:p>
          <a:p>
            <a:pPr>
              <a:defRPr sz="1800">
                <a:solidFill>
                  <a:srgbClr val="3C3C3C"/>
                </a:solidFill>
                <a:latin typeface="Helvetica"/>
              </a:defRPr>
            </a:pPr>
            <a:r>
              <a:rPr>
                <a:latin typeface="Helvetica Neue Light"/>
              </a:rPr>
              <a:t>**Can hallucinate** - generate plausible but incorrect code</a:t>
            </a:r>
          </a:p>
          <a:p>
            <a:pPr>
              <a:defRPr sz="1800">
                <a:solidFill>
                  <a:srgbClr val="3C3C3C"/>
                </a:solidFill>
                <a:latin typeface="Helvetica"/>
              </a:defRPr>
            </a:pPr>
            <a:r>
              <a:rPr>
                <a:latin typeface="Helvetica Neue Light"/>
              </a:rPr>
              <a:t>Your Ongoing Responsibilities:</a:t>
            </a:r>
          </a:p>
          <a:p>
            <a:pPr>
              <a:defRPr sz="1800">
                <a:solidFill>
                  <a:srgbClr val="3C3C3C"/>
                </a:solidFill>
                <a:latin typeface="Helvetica"/>
              </a:defRPr>
            </a:pPr>
            <a:r>
              <a:rPr>
                <a:latin typeface="Helvetica Neue Light"/>
              </a:rPr>
              <a:t>**Understanding the generated code** - don't just copy and paste</a:t>
            </a:r>
          </a:p>
          <a:p>
            <a:pPr>
              <a:defRPr sz="1800">
                <a:solidFill>
                  <a:srgbClr val="3C3C3C"/>
                </a:solidFill>
                <a:latin typeface="Helvetica"/>
              </a:defRPr>
            </a:pPr>
            <a:r>
              <a:rPr>
                <a:latin typeface="Helvetica Neue Light"/>
              </a:rPr>
              <a:t>**Testing thoroughly** - AI can't verify correctness</a:t>
            </a:r>
          </a:p>
          <a:p>
            <a:pPr>
              <a:defRPr sz="1800">
                <a:solidFill>
                  <a:srgbClr val="3C3C3C"/>
                </a:solidFill>
                <a:latin typeface="Helvetica"/>
              </a:defRPr>
            </a:pPr>
            <a:r>
              <a:rPr>
                <a:latin typeface="Helvetica Neue Light"/>
              </a:rPr>
              <a:t>**Making architectural decisions** - overall system design</a:t>
            </a:r>
          </a:p>
          <a:p>
            <a:pPr>
              <a:defRPr sz="1800">
                <a:solidFill>
                  <a:srgbClr val="3C3C3C"/>
                </a:solidFill>
                <a:latin typeface="Helvetica"/>
              </a:defRPr>
            </a:pPr>
            <a:r>
              <a:rPr>
                <a:latin typeface="Helvetica Neue Light"/>
              </a:rPr>
              <a:t>**Applying domain knowledge** - understanding what makes sense in your field</a:t>
            </a:r>
          </a:p>
          <a:p>
            <a:pPr>
              <a:defRPr sz="1800">
                <a:solidFill>
                  <a:srgbClr val="3C3C3C"/>
                </a:solidFill>
                <a:latin typeface="Helvetica"/>
              </a:defRPr>
            </a:pPr>
            <a:r>
              <a:rPr>
                <a:latin typeface="Helvetica Neue Light"/>
              </a:rPr>
              <a:t>**Security review** - ensuring code is safe and secure</a:t>
            </a:r>
          </a:p>
        </p:txBody>
      </p:sp>
      <p:sp>
        <p:nvSpPr>
          <p:cNvPr id="5" name="Rectangle 4"/>
          <p:cNvSpPr/>
          <p:nvPr/>
        </p:nvSpPr>
        <p:spPr>
          <a:xfrm>
            <a:off x="8961120" y="1737360"/>
            <a:ext cx="2743200" cy="3474720"/>
          </a:xfrm>
          <a:prstGeom prst="rect">
            <a:avLst/>
          </a:prstGeom>
          <a:no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latin typeface="Helvetica"/>
              </a:defRPr>
            </a:pPr>
            <a:r>
              <a:rPr>
                <a:latin typeface="Helvetica Neue Light"/>
              </a:rPr>
              <a:t>Suggested image: a clean, high‑resolution conceptual diagram or icon‑based collage.</a:t>
            </a:r>
          </a:p>
          <a:p/>
          <a:p>
            <a:r>
              <a:rPr>
                <a:latin typeface="Helvetica Neue Light"/>
              </a:rPr>
              <a:t>Avoid screenshots with UI clutter. Prefer vector icons, architecture diagrams, or labeled concept illustrations that reinforce the idea rather than demonstrate steps.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a:latin typeface="Helvetica Neue Light"/>
              </a:rPr>
              <a:t>Effective AI Prompting</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a:latin typeface="Helvetica Neue Light"/>
              </a:rPr>
              <a:t>Getting Better Results Through Better Communication</a:t>
            </a:r>
          </a:p>
          <a:p>
            <a:pPr>
              <a:defRPr sz="1800">
                <a:solidFill>
                  <a:srgbClr val="3C3C3C"/>
                </a:solidFill>
                <a:latin typeface="Helvetica"/>
              </a:defRPr>
            </a:pPr>
            <a:r>
              <a:rPr>
                <a:latin typeface="Helvetica Neue Light"/>
              </a:rPr>
              <a:t>AI assistants work best when you communicate clearly and specifically:</a:t>
            </a:r>
          </a:p>
          <a:p>
            <a:pPr>
              <a:defRPr sz="1800">
                <a:solidFill>
                  <a:srgbClr val="3C3C3C"/>
                </a:solidFill>
                <a:latin typeface="Helvetica"/>
              </a:defRPr>
            </a:pPr>
            <a:r>
              <a:rPr>
                <a:latin typeface="Helvetica Neue Light"/>
              </a:rPr>
              <a:t>Be Specific About What You Want:</a:t>
            </a:r>
          </a:p>
          <a:p>
            <a:pPr>
              <a:defRPr sz="1800">
                <a:solidFill>
                  <a:srgbClr val="3C3C3C"/>
                </a:solidFill>
                <a:latin typeface="Helvetica"/>
              </a:defRPr>
            </a:pPr>
            <a:r>
              <a:rPr>
                <a:latin typeface="Helvetica Neue Light"/>
              </a:rPr>
              <a:t>**Bad**: "write code"</a:t>
            </a:r>
          </a:p>
          <a:p>
            <a:pPr>
              <a:defRPr sz="1800">
                <a:solidFill>
                  <a:srgbClr val="3C3C3C"/>
                </a:solidFill>
                <a:latin typeface="Helvetica"/>
              </a:defRPr>
            </a:pPr>
            <a:r>
              <a:rPr>
                <a:latin typeface="Helvetica Neue Light"/>
              </a:rPr>
              <a:t>**Good**: "write a Python function that reads a CSV file using pandas, filters rows where the score column is above 80, and returns the filtered DataFrame"</a:t>
            </a:r>
          </a:p>
          <a:p>
            <a:pPr>
              <a:defRPr sz="1800">
                <a:solidFill>
                  <a:srgbClr val="3C3C3C"/>
                </a:solidFill>
                <a:latin typeface="Helvetica"/>
              </a:defRPr>
            </a:pPr>
            <a:r>
              <a:rPr>
                <a:latin typeface="Helvetica Neue Light"/>
              </a:rPr>
              <a:t>Provide Context When Asking for Help:</a:t>
            </a:r>
          </a:p>
          <a:p>
            <a:pPr>
              <a:defRPr sz="1800">
                <a:solidFill>
                  <a:srgbClr val="3C3C3C"/>
                </a:solidFill>
                <a:latin typeface="Helvetica"/>
              </a:defRPr>
            </a:pPr>
            <a:r>
              <a:rPr>
                <a:latin typeface="Helvetica Neue Light"/>
              </a:rPr>
              <a:t>Explain what the code is supposed to do</a:t>
            </a:r>
          </a:p>
          <a:p>
            <a:pPr>
              <a:defRPr sz="1800">
                <a:solidFill>
                  <a:srgbClr val="3C3C3C"/>
                </a:solidFill>
                <a:latin typeface="Helvetica"/>
              </a:defRPr>
            </a:pPr>
            <a:r>
              <a:rPr>
                <a:latin typeface="Helvetica Neue Light"/>
              </a:rPr>
              <a:t>Show error messages if there are any</a:t>
            </a:r>
          </a:p>
          <a:p>
            <a:pPr>
              <a:defRPr sz="1800">
                <a:solidFill>
                  <a:srgbClr val="3C3C3C"/>
                </a:solidFill>
                <a:latin typeface="Helvetica"/>
              </a:defRPr>
            </a:pPr>
            <a:r>
              <a:rPr>
                <a:latin typeface="Helvetica Neue Light"/>
              </a:rPr>
              <a:t>Explain what you've already tried</a:t>
            </a:r>
          </a:p>
          <a:p>
            <a:pPr>
              <a:defRPr sz="1800">
                <a:solidFill>
                  <a:srgbClr val="3C3C3C"/>
                </a:solidFill>
                <a:latin typeface="Helvetica"/>
              </a:defRPr>
            </a:pPr>
            <a:r>
              <a:rPr>
                <a:latin typeface="Helvetica Neue Light"/>
              </a:rPr>
              <a:t>Describe the broader context of your project</a:t>
            </a:r>
          </a:p>
          <a:p>
            <a:pPr>
              <a:defRPr sz="1800">
                <a:solidFill>
                  <a:srgbClr val="3C3C3C"/>
                </a:solidFill>
                <a:latin typeface="Helvetica"/>
              </a:defRPr>
            </a:pPr>
            <a:r>
              <a:rPr>
                <a:latin typeface="Helvetica Neue Light"/>
              </a:rPr>
              <a:t>Iterate on Results:</a:t>
            </a:r>
          </a:p>
          <a:p>
            <a:pPr>
              <a:defRPr sz="1800">
                <a:solidFill>
                  <a:srgbClr val="3C3C3C"/>
                </a:solidFill>
                <a:latin typeface="Helvetica"/>
              </a:defRPr>
            </a:pPr>
            <a:r>
              <a:rPr>
                <a:latin typeface="Helvetica Neue Light"/>
              </a:rPr>
              <a:t>1. Start with a basic request</a:t>
            </a:r>
          </a:p>
          <a:p>
            <a:pPr>
              <a:defRPr sz="1800">
                <a:solidFill>
                  <a:srgbClr val="3C3C3C"/>
                </a:solidFill>
                <a:latin typeface="Helvetica"/>
              </a:defRPr>
            </a:pPr>
            <a:r>
              <a:rPr>
                <a:latin typeface="Helvetica Neue Light"/>
              </a:rPr>
              <a:t>2. Review what the AI generates</a:t>
            </a:r>
          </a:p>
          <a:p>
            <a:pPr>
              <a:defRPr sz="1800">
                <a:solidFill>
                  <a:srgbClr val="3C3C3C"/>
                </a:solidFill>
                <a:latin typeface="Helvetica"/>
              </a:defRPr>
            </a:pPr>
            <a:r>
              <a:rPr>
                <a:latin typeface="Helvetica Neue Light"/>
              </a:rPr>
              <a:t>3. Ask for improvements: "Now add error handling for missing files"</a:t>
            </a:r>
          </a:p>
          <a:p>
            <a:pPr>
              <a:defRPr sz="1800">
                <a:solidFill>
                  <a:srgbClr val="3C3C3C"/>
                </a:solidFill>
                <a:latin typeface="Helvetica"/>
              </a:defRPr>
            </a:pPr>
            <a:r>
              <a:rPr>
                <a:latin typeface="Helvetica Neue Light"/>
              </a:rPr>
              <a:t>4. Refine further: "Add type hints and a docstring"</a:t>
            </a:r>
          </a:p>
          <a:p>
            <a:pPr>
              <a:defRPr sz="1800">
                <a:solidFill>
                  <a:srgbClr val="3C3C3C"/>
                </a:solidFill>
                <a:latin typeface="Helvetica"/>
              </a:defRPr>
            </a:pPr>
            <a:r>
              <a:rPr>
                <a:latin typeface="Helvetica Neue Light"/>
              </a:rPr>
              <a:t>5. Continue until satisfied</a:t>
            </a:r>
          </a:p>
          <a:p>
            <a:pPr>
              <a:defRPr sz="1800">
                <a:solidFill>
                  <a:srgbClr val="3C3C3C"/>
                </a:solidFill>
                <a:latin typeface="Helvetica"/>
              </a:defRPr>
            </a:pPr>
            <a:r>
              <a:rPr>
                <a:latin typeface="Helvetica Neue Light"/>
              </a:rPr>
              <a:t>Ask for Explanations:</a:t>
            </a:r>
          </a:p>
          <a:p>
            <a:pPr>
              <a:defRPr sz="1800">
                <a:solidFill>
                  <a:srgbClr val="3C3C3C"/>
                </a:solidFill>
                <a:latin typeface="Helvetica"/>
              </a:defRPr>
            </a:pPr>
            <a:r>
              <a:rPr>
                <a:latin typeface="Helvetica Neue Light"/>
              </a:rPr>
              <a:t>"Why did you choose this approach?"</a:t>
            </a:r>
          </a:p>
          <a:p>
            <a:pPr>
              <a:defRPr sz="1800">
                <a:solidFill>
                  <a:srgbClr val="3C3C3C"/>
                </a:solidFill>
                <a:latin typeface="Helvetica"/>
              </a:defRPr>
            </a:pPr>
            <a:r>
              <a:rPr>
                <a:latin typeface="Helvetica Neue Light"/>
              </a:rPr>
              <a:t>"What are the trade-offs of this solution?"</a:t>
            </a:r>
          </a:p>
          <a:p>
            <a:pPr>
              <a:defRPr sz="1800">
                <a:solidFill>
                  <a:srgbClr val="3C3C3C"/>
                </a:solidFill>
                <a:latin typeface="Helvetica"/>
              </a:defRPr>
            </a:pPr>
            <a:r>
              <a:rPr>
                <a:latin typeface="Helvetica Neue Light"/>
              </a:rPr>
              <a:t>"Are there alternative ways to do this?"</a:t>
            </a:r>
          </a:p>
        </p:txBody>
      </p:sp>
      <p:sp>
        <p:nvSpPr>
          <p:cNvPr id="5" name="Rectangle 4"/>
          <p:cNvSpPr/>
          <p:nvPr/>
        </p:nvSpPr>
        <p:spPr>
          <a:xfrm>
            <a:off x="8961120" y="1737360"/>
            <a:ext cx="2743200" cy="3474720"/>
          </a:xfrm>
          <a:prstGeom prst="rect">
            <a:avLst/>
          </a:prstGeom>
          <a:no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latin typeface="Helvetica"/>
              </a:defRPr>
            </a:pPr>
            <a:r>
              <a:rPr>
                <a:latin typeface="Helvetica Neue Light"/>
              </a:rPr>
              <a:t>Suggested image: a clean, high‑resolution conceptual diagram or icon‑based collage.</a:t>
            </a:r>
          </a:p>
          <a:p/>
          <a:p>
            <a:r>
              <a:rPr>
                <a:latin typeface="Helvetica Neue Light"/>
              </a:rPr>
              <a:t>Avoid screenshots with UI clutter. Prefer vector icons, architecture diagrams, or labeled concept illustrations that reinforce the idea rather than demonstrate steps.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a:latin typeface="Helvetica Neue Light"/>
              </a:rPr>
              <a:t>The Modern Development Workflow</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a:latin typeface="Helvetica Neue Light"/>
              </a:rPr>
              <a:t>How AI Changes the Development Process</a:t>
            </a:r>
          </a:p>
          <a:p>
            <a:pPr>
              <a:defRPr sz="1800">
                <a:solidFill>
                  <a:srgbClr val="3C3C3C"/>
                </a:solidFill>
                <a:latin typeface="Helvetica"/>
              </a:defRPr>
            </a:pPr>
            <a:r>
              <a:rPr>
                <a:latin typeface="Helvetica Neue Light"/>
              </a:rPr>
              <a:t>The workflow for building data science projects has evolved with AI assistants, but humans still drive the critical decisions:</a:t>
            </a:r>
          </a:p>
          <a:p>
            <a:pPr>
              <a:defRPr sz="1800">
                <a:solidFill>
                  <a:srgbClr val="3C3C3C"/>
                </a:solidFill>
                <a:latin typeface="Helvetica"/>
              </a:defRPr>
            </a:pPr>
            <a:r>
              <a:rPr>
                <a:latin typeface="Helvetica Neue Light"/>
              </a:rPr>
              <a:t>AI-Assisted Development Process:</a:t>
            </a:r>
          </a:p>
          <a:p>
            <a:pPr>
              <a:defRPr sz="1800">
                <a:solidFill>
                  <a:srgbClr val="3C3C3C"/>
                </a:solidFill>
                <a:latin typeface="Helvetica"/>
              </a:defRPr>
            </a:pPr>
            <a:r>
              <a:rPr>
                <a:latin typeface="Helvetica Neue Light"/>
              </a:rPr>
              <a:t>1. Define the problem (human) - understand requirements and constraints</a:t>
            </a:r>
          </a:p>
          <a:p>
            <a:pPr>
              <a:defRPr sz="1800">
                <a:solidFill>
                  <a:srgbClr val="3C3C3C"/>
                </a:solidFill>
                <a:latin typeface="Helvetica"/>
              </a:defRPr>
            </a:pPr>
            <a:r>
              <a:rPr>
                <a:latin typeface="Helvetica Neue Light"/>
              </a:rPr>
              <a:t>2. Research approaches (human + AI) - explore solutions and best practices</a:t>
            </a:r>
          </a:p>
          <a:p>
            <a:pPr>
              <a:defRPr sz="1800">
                <a:solidFill>
                  <a:srgbClr val="3C3C3C"/>
                </a:solidFill>
                <a:latin typeface="Helvetica"/>
              </a:defRPr>
            </a:pPr>
            <a:r>
              <a:rPr>
                <a:latin typeface="Helvetica Neue Light"/>
              </a:rPr>
              <a:t>3. Design architecture (human) - make high-level structural decisions</a:t>
            </a:r>
          </a:p>
          <a:p>
            <a:pPr>
              <a:defRPr sz="1800">
                <a:solidFill>
                  <a:srgbClr val="3C3C3C"/>
                </a:solidFill>
                <a:latin typeface="Helvetica"/>
              </a:defRPr>
            </a:pPr>
            <a:r>
              <a:rPr>
                <a:latin typeface="Helvetica Neue Light"/>
              </a:rPr>
              <a:t>4. Generate boilerplate (AI) - create standard code structures</a:t>
            </a:r>
          </a:p>
          <a:p>
            <a:pPr>
              <a:defRPr sz="1800">
                <a:solidFill>
                  <a:srgbClr val="3C3C3C"/>
                </a:solidFill>
                <a:latin typeface="Helvetica"/>
              </a:defRPr>
            </a:pPr>
            <a:r>
              <a:rPr>
                <a:latin typeface="Helvetica Neue Light"/>
              </a:rPr>
              <a:t>5. Implement domain logic (human + AI) - add business-specific functionality</a:t>
            </a:r>
          </a:p>
          <a:p>
            <a:pPr>
              <a:defRPr sz="1800">
                <a:solidFill>
                  <a:srgbClr val="3C3C3C"/>
                </a:solidFill>
                <a:latin typeface="Helvetica"/>
              </a:defRPr>
            </a:pPr>
            <a:r>
              <a:rPr>
                <a:latin typeface="Helvetica Neue Light"/>
              </a:rPr>
              <a:t>6. Review and refine (human) - ensure quality and correctness</a:t>
            </a:r>
          </a:p>
          <a:p>
            <a:pPr>
              <a:defRPr sz="1800">
                <a:solidFill>
                  <a:srgbClr val="3C3C3C"/>
                </a:solidFill>
                <a:latin typeface="Helvetica"/>
              </a:defRPr>
            </a:pPr>
            <a:r>
              <a:rPr>
                <a:latin typeface="Helvetica Neue Light"/>
              </a:rPr>
              <a:t>7. Test thoroughly (human + AI) - verify functionality and edge cases</a:t>
            </a:r>
          </a:p>
          <a:p>
            <a:pPr>
              <a:defRPr sz="1800">
                <a:solidFill>
                  <a:srgbClr val="3C3C3C"/>
                </a:solidFill>
                <a:latin typeface="Helvetica"/>
              </a:defRPr>
            </a:pPr>
            <a:r>
              <a:rPr>
                <a:latin typeface="Helvetica Neue Light"/>
              </a:rPr>
              <a:t>8. Document (human + AI) - explain what was built and why</a:t>
            </a:r>
          </a:p>
          <a:p>
            <a:pPr>
              <a:defRPr sz="1800">
                <a:solidFill>
                  <a:srgbClr val="3C3C3C"/>
                </a:solidFill>
                <a:latin typeface="Helvetica"/>
              </a:defRPr>
            </a:pPr>
            <a:r>
              <a:rPr>
                <a:latin typeface="Helvetica Neue Light"/>
              </a:rPr>
              <a:t>9. Deploy and monitor (human + AI) - put into production</a:t>
            </a:r>
          </a:p>
          <a:p>
            <a:pPr>
              <a:defRPr sz="1800">
                <a:solidFill>
                  <a:srgbClr val="3C3C3C"/>
                </a:solidFill>
                <a:latin typeface="Helvetica"/>
              </a:defRPr>
            </a:pPr>
            <a:r>
              <a:rPr>
                <a:latin typeface="Helvetica Neue Light"/>
              </a:rPr>
              <a:t>Key Insight: Humans drive strategy and architecture, AI accelerates implementation.</a:t>
            </a:r>
          </a:p>
        </p:txBody>
      </p:sp>
      <p:sp>
        <p:nvSpPr>
          <p:cNvPr id="5" name="Rectangle 4"/>
          <p:cNvSpPr/>
          <p:nvPr/>
        </p:nvSpPr>
        <p:spPr>
          <a:xfrm>
            <a:off x="8961120" y="1737360"/>
            <a:ext cx="2743200" cy="3474720"/>
          </a:xfrm>
          <a:prstGeom prst="rect">
            <a:avLst/>
          </a:prstGeom>
          <a:no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latin typeface="Helvetica"/>
              </a:defRPr>
            </a:pPr>
            <a:r>
              <a:rPr>
                <a:latin typeface="Helvetica Neue Light"/>
              </a:rPr>
              <a:t>Suggested image: a clean, high‑resolution conceptual diagram or icon‑based collage.</a:t>
            </a:r>
          </a:p>
          <a:p/>
          <a:p>
            <a:r>
              <a:rPr>
                <a:latin typeface="Helvetica Neue Light"/>
              </a:rPr>
              <a:t>Avoid screenshots with UI clutter. Prefer vector icons, architecture diagrams, or labeled concept illustrations that reinforce the idea rather than demonstrate steps.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a:latin typeface="Helvetica Neue Light"/>
              </a:rPr>
              <a:t>This Week's Setup Tasks</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a:latin typeface="Helvetica Neue Light"/>
              </a:rPr>
              <a:t>Complete Before Next Week's Class</a:t>
            </a:r>
          </a:p>
          <a:p>
            <a:pPr>
              <a:defRPr sz="1800">
                <a:solidFill>
                  <a:srgbClr val="3C3C3C"/>
                </a:solidFill>
                <a:latin typeface="Helvetica"/>
              </a:defRPr>
            </a:pPr>
            <a:r>
              <a:rPr>
                <a:latin typeface="Helvetica Neue Light"/>
              </a:rPr>
              <a:t>You need to set up your complete development environment before we can start hands-on work:</a:t>
            </a:r>
          </a:p>
          <a:p>
            <a:pPr>
              <a:defRPr sz="1800">
                <a:solidFill>
                  <a:srgbClr val="3C3C3C"/>
                </a:solidFill>
                <a:latin typeface="Helvetica"/>
              </a:defRPr>
            </a:pPr>
            <a:r>
              <a:rPr>
                <a:latin typeface="Helvetica Neue Light"/>
              </a:rPr>
              <a:t>Required Installations:</a:t>
            </a:r>
          </a:p>
          <a:p>
            <a:pPr>
              <a:defRPr sz="1800">
                <a:solidFill>
                  <a:srgbClr val="3C3C3C"/>
                </a:solidFill>
                <a:latin typeface="Helvetica"/>
              </a:defRPr>
            </a:pPr>
            <a:r>
              <a:rPr>
                <a:latin typeface="Helvetica Neue Light"/>
              </a:rPr>
              <a:t>1. Git - Version control system</a:t>
            </a:r>
          </a:p>
          <a:p>
            <a:pPr>
              <a:defRPr sz="1800">
                <a:solidFill>
                  <a:srgbClr val="3C3C3C"/>
                </a:solidFill>
                <a:latin typeface="Helvetica"/>
              </a:defRPr>
            </a:pPr>
            <a:r>
              <a:rPr>
                <a:latin typeface="Helvetica Neue Light"/>
              </a:rPr>
              <a:t>2. Python 3.11+ - Programming language</a:t>
            </a:r>
          </a:p>
          <a:p>
            <a:pPr>
              <a:defRPr sz="1800">
                <a:solidFill>
                  <a:srgbClr val="3C3C3C"/>
                </a:solidFill>
                <a:latin typeface="Helvetica"/>
              </a:defRPr>
            </a:pPr>
            <a:r>
              <a:rPr>
                <a:latin typeface="Helvetica Neue Light"/>
              </a:rPr>
              <a:t>3. uv - Package manager</a:t>
            </a:r>
          </a:p>
          <a:p>
            <a:pPr>
              <a:defRPr sz="1800">
                <a:solidFill>
                  <a:srgbClr val="3C3C3C"/>
                </a:solidFill>
                <a:latin typeface="Helvetica"/>
              </a:defRPr>
            </a:pPr>
            <a:r>
              <a:rPr>
                <a:latin typeface="Helvetica Neue Light"/>
              </a:rPr>
              <a:t>4. VSCode - Code editor</a:t>
            </a:r>
          </a:p>
          <a:p>
            <a:pPr>
              <a:defRPr sz="1800">
                <a:solidFill>
                  <a:srgbClr val="3C3C3C"/>
                </a:solidFill>
                <a:latin typeface="Helvetica"/>
              </a:defRPr>
            </a:pPr>
            <a:r>
              <a:rPr>
                <a:latin typeface="Helvetica Neue Light"/>
              </a:rPr>
              <a:t>5. VSCode Extensions - Python, Cline, GitLens</a:t>
            </a:r>
          </a:p>
          <a:p>
            <a:pPr>
              <a:defRPr sz="1800">
                <a:solidFill>
                  <a:srgbClr val="3C3C3C"/>
                </a:solidFill>
                <a:latin typeface="Helvetica"/>
              </a:defRPr>
            </a:pPr>
            <a:r>
              <a:rPr>
                <a:latin typeface="Helvetica Neue Light"/>
              </a:rPr>
              <a:t>6. OpenRouter API Key - For AI assistant (free tier available)</a:t>
            </a:r>
          </a:p>
          <a:p>
            <a:pPr>
              <a:defRPr sz="1800">
                <a:solidFill>
                  <a:srgbClr val="3C3C3C"/>
                </a:solidFill>
                <a:latin typeface="Helvetica"/>
              </a:defRPr>
            </a:pPr>
            <a:r>
              <a:rPr>
                <a:latin typeface="Helvetica Neue Light"/>
              </a:rPr>
              <a:t>7. Configure Cline - Connect to OpenRouter</a:t>
            </a:r>
          </a:p>
          <a:p>
            <a:pPr>
              <a:defRPr sz="1800">
                <a:solidFill>
                  <a:srgbClr val="3C3C3C"/>
                </a:solidFill>
                <a:latin typeface="Helvetica"/>
              </a:defRPr>
            </a:pPr>
            <a:r>
              <a:rPr>
                <a:latin typeface="Helvetica Neue Light"/>
              </a:rPr>
              <a:t>Detailed Instructions:</a:t>
            </a:r>
          </a:p>
          <a:p>
            <a:pPr>
              <a:defRPr sz="1800">
                <a:solidFill>
                  <a:srgbClr val="3C3C3C"/>
                </a:solidFill>
                <a:latin typeface="Helvetica"/>
              </a:defRPr>
            </a:pPr>
            <a:r>
              <a:rPr>
                <a:latin typeface="Helvetica Neue Light"/>
              </a:rPr>
              <a:t>**STUDENT_SETUP.md** directs you to OS-specific guides</a:t>
            </a:r>
          </a:p>
          <a:p>
            <a:pPr>
              <a:defRPr sz="1800">
                <a:solidFill>
                  <a:srgbClr val="3C3C3C"/>
                </a:solidFill>
                <a:latin typeface="Helvetica"/>
              </a:defRPr>
            </a:pPr>
            <a:r>
              <a:rPr>
                <a:latin typeface="Helvetica Neue Light"/>
              </a:rPr>
              <a:t>**SETUP_MAC.md** - Complete macOS setup guide</a:t>
            </a:r>
          </a:p>
          <a:p>
            <a:pPr>
              <a:defRPr sz="1800">
                <a:solidFill>
                  <a:srgbClr val="3C3C3C"/>
                </a:solidFill>
                <a:latin typeface="Helvetica"/>
              </a:defRPr>
            </a:pPr>
            <a:r>
              <a:rPr>
                <a:latin typeface="Helvetica Neue Light"/>
              </a:rPr>
              <a:t>**SETUP_WINDOWS.md** - Complete Windows setup guide</a:t>
            </a:r>
          </a:p>
          <a:p>
            <a:pPr>
              <a:defRPr sz="1800">
                <a:solidFill>
                  <a:srgbClr val="3C3C3C"/>
                </a:solidFill>
                <a:latin typeface="Helvetica"/>
              </a:defRPr>
            </a:pPr>
            <a:r>
              <a:rPr>
                <a:latin typeface="Helvetica Neue Light"/>
              </a:rPr>
              <a:t>Test procedures to verify everything works</a:t>
            </a:r>
          </a:p>
          <a:p>
            <a:pPr>
              <a:defRPr sz="1800">
                <a:solidFill>
                  <a:srgbClr val="3C3C3C"/>
                </a:solidFill>
                <a:latin typeface="Helvetica"/>
              </a:defRPr>
            </a:pPr>
            <a:r>
              <a:rPr>
                <a:latin typeface="Helvetica Neue Light"/>
              </a:rPr>
              <a:t>Don't Wait Until Last Minute:</a:t>
            </a:r>
          </a:p>
          <a:p>
            <a:pPr>
              <a:defRPr sz="1800">
                <a:solidFill>
                  <a:srgbClr val="3C3C3C"/>
                </a:solidFill>
                <a:latin typeface="Helvetica"/>
              </a:defRPr>
            </a:pPr>
            <a:r>
              <a:rPr>
                <a:latin typeface="Helvetica Neue Light"/>
              </a:rPr>
              <a:t>Setup issues are common and can take time to resolve. Start early so you have time to get help if needed.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a:latin typeface="Helvetica Neue Light"/>
              </a:rPr>
              <a:t>Week 1 Examples</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a:latin typeface="Helvetica Neue Light"/>
              </a:rPr>
              <a:t>Three Hands-On Tutorials to Reinforce Concepts</a:t>
            </a:r>
          </a:p>
          <a:p>
            <a:pPr>
              <a:defRPr sz="1800">
                <a:solidFill>
                  <a:srgbClr val="3C3C3C"/>
                </a:solidFill>
                <a:latin typeface="Helvetica"/>
              </a:defRPr>
            </a:pPr>
            <a:r>
              <a:rPr>
                <a:latin typeface="Helvetica Neue Light"/>
              </a:rPr>
              <a:t>After completing setup, work through these examples in the `week-1/examples/` directory:</a:t>
            </a:r>
          </a:p>
          <a:p>
            <a:pPr>
              <a:defRPr sz="1800">
                <a:solidFill>
                  <a:srgbClr val="3C3C3C"/>
                </a:solidFill>
                <a:latin typeface="Helvetica"/>
              </a:defRPr>
            </a:pPr>
            <a:r>
              <a:rPr>
                <a:latin typeface="Helvetica Neue Light"/>
              </a:rPr>
              <a:t>1. python-setup/</a:t>
            </a:r>
          </a:p>
          <a:p>
            <a:pPr>
              <a:defRPr sz="1800">
                <a:solidFill>
                  <a:srgbClr val="3C3C3C"/>
                </a:solidFill>
                <a:latin typeface="Helvetica"/>
              </a:defRPr>
            </a:pPr>
            <a:r>
              <a:rPr>
                <a:latin typeface="Helvetica Neue Light"/>
              </a:rPr>
              <a:t>Create virtual environment with uv</a:t>
            </a:r>
          </a:p>
          <a:p>
            <a:pPr>
              <a:defRPr sz="1800">
                <a:solidFill>
                  <a:srgbClr val="3C3C3C"/>
                </a:solidFill>
                <a:latin typeface="Helvetica"/>
              </a:defRPr>
            </a:pPr>
            <a:r>
              <a:rPr>
                <a:latin typeface="Helvetica Neue Light"/>
              </a:rPr>
              <a:t>Initialize a uv project with `uv init`</a:t>
            </a:r>
          </a:p>
          <a:p>
            <a:pPr>
              <a:defRPr sz="1800">
                <a:solidFill>
                  <a:srgbClr val="3C3C3C"/>
                </a:solidFill>
                <a:latin typeface="Helvetica"/>
              </a:defRPr>
            </a:pPr>
            <a:r>
              <a:rPr>
                <a:latin typeface="Helvetica Neue Light"/>
              </a:rPr>
              <a:t>Install packages (pandas, numpy, matplotlib)</a:t>
            </a:r>
          </a:p>
          <a:p>
            <a:pPr>
              <a:defRPr sz="1800">
                <a:solidFill>
                  <a:srgbClr val="3C3C3C"/>
                </a:solidFill>
                <a:latin typeface="Helvetica"/>
              </a:defRPr>
            </a:pPr>
            <a:r>
              <a:rPr>
                <a:latin typeface="Helvetica Neue Light"/>
              </a:rPr>
              <a:t>Run a data analysis script</a:t>
            </a:r>
          </a:p>
          <a:p>
            <a:pPr>
              <a:defRPr sz="1800">
                <a:solidFill>
                  <a:srgbClr val="3C3C3C"/>
                </a:solidFill>
                <a:latin typeface="Helvetica"/>
              </a:defRPr>
            </a:pPr>
            <a:r>
              <a:rPr>
                <a:latin typeface="Helvetica Neue Light"/>
              </a:rPr>
              <a:t>Create and use requirements.txt</a:t>
            </a:r>
          </a:p>
          <a:p>
            <a:pPr>
              <a:defRPr sz="1800">
                <a:solidFill>
                  <a:srgbClr val="3C3C3C"/>
                </a:solidFill>
                <a:latin typeface="Helvetica"/>
              </a:defRPr>
            </a:pPr>
            <a:r>
              <a:rPr>
                <a:latin typeface="Helvetica Neue Light"/>
              </a:rPr>
              <a:t>Practice the workflow you'll use throughout the course</a:t>
            </a:r>
          </a:p>
          <a:p>
            <a:pPr>
              <a:defRPr sz="1800">
                <a:solidFill>
                  <a:srgbClr val="3C3C3C"/>
                </a:solidFill>
                <a:latin typeface="Helvetica"/>
              </a:defRPr>
            </a:pPr>
            <a:r>
              <a:rPr>
                <a:latin typeface="Helvetica Neue Light"/>
              </a:rPr>
              <a:t>2. git-workflow/</a:t>
            </a:r>
          </a:p>
          <a:p>
            <a:pPr>
              <a:defRPr sz="1800">
                <a:solidFill>
                  <a:srgbClr val="3C3C3C"/>
                </a:solidFill>
                <a:latin typeface="Helvetica"/>
              </a:defRPr>
            </a:pPr>
            <a:r>
              <a:rPr>
                <a:latin typeface="Helvetica Neue Light"/>
              </a:rPr>
              <a:t>Initialize a Git repository</a:t>
            </a:r>
          </a:p>
          <a:p>
            <a:pPr>
              <a:defRPr sz="1800">
                <a:solidFill>
                  <a:srgbClr val="3C3C3C"/>
                </a:solidFill>
                <a:latin typeface="Helvetica"/>
              </a:defRPr>
            </a:pPr>
            <a:r>
              <a:rPr>
                <a:latin typeface="Helvetica Neue Light"/>
              </a:rPr>
              <a:t>Make commits with good messages</a:t>
            </a:r>
          </a:p>
          <a:p>
            <a:pPr>
              <a:defRPr sz="1800">
                <a:solidFill>
                  <a:srgbClr val="3C3C3C"/>
                </a:solidFill>
                <a:latin typeface="Helvetica"/>
              </a:defRPr>
            </a:pPr>
            <a:r>
              <a:rPr>
                <a:latin typeface="Helvetica Neue Light"/>
              </a:rPr>
              <a:t>View project history with `git log`</a:t>
            </a:r>
          </a:p>
          <a:p>
            <a:pPr>
              <a:defRPr sz="1800">
                <a:solidFill>
                  <a:srgbClr val="3C3C3C"/>
                </a:solidFill>
                <a:latin typeface="Helvetica"/>
              </a:defRPr>
            </a:pPr>
            <a:r>
              <a:rPr>
                <a:latin typeface="Helvetica Neue Light"/>
              </a:rPr>
              <a:t>Create .gitignore file</a:t>
            </a:r>
          </a:p>
          <a:p>
            <a:pPr>
              <a:defRPr sz="1800">
                <a:solidFill>
                  <a:srgbClr val="3C3C3C"/>
                </a:solidFill>
                <a:latin typeface="Helvetica"/>
              </a:defRPr>
            </a:pPr>
            <a:r>
              <a:rPr>
                <a:latin typeface="Helvetica Neue Light"/>
              </a:rPr>
              <a:t>Use `git diff` to see changes</a:t>
            </a:r>
          </a:p>
          <a:p>
            <a:pPr>
              <a:defRPr sz="1800">
                <a:solidFill>
                  <a:srgbClr val="3C3C3C"/>
                </a:solidFill>
                <a:latin typeface="Helvetica"/>
              </a:defRPr>
            </a:pPr>
            <a:r>
              <a:rPr>
                <a:latin typeface="Helvetica Neue Light"/>
              </a:rPr>
              <a:t>Optional: Push to GitHub and practice branching</a:t>
            </a:r>
          </a:p>
          <a:p>
            <a:pPr>
              <a:defRPr sz="1800">
                <a:solidFill>
                  <a:srgbClr val="3C3C3C"/>
                </a:solidFill>
                <a:latin typeface="Helvetica"/>
              </a:defRPr>
            </a:pPr>
            <a:r>
              <a:rPr>
                <a:latin typeface="Helvetica Neue Light"/>
              </a:rPr>
              <a:t>3. ai-assistant-demo/</a:t>
            </a:r>
          </a:p>
          <a:p>
            <a:pPr>
              <a:defRPr sz="1800">
                <a:solidFill>
                  <a:srgbClr val="3C3C3C"/>
                </a:solidFill>
                <a:latin typeface="Helvetica"/>
              </a:defRPr>
            </a:pPr>
            <a:r>
              <a:rPr>
                <a:latin typeface="Helvetica Neue Light"/>
              </a:rPr>
              <a:t>Use Cline for code generation</a:t>
            </a:r>
          </a:p>
          <a:p>
            <a:pPr>
              <a:defRPr sz="1800">
                <a:solidFill>
                  <a:srgbClr val="3C3C3C"/>
                </a:solidFill>
                <a:latin typeface="Helvetica"/>
              </a:defRPr>
            </a:pPr>
            <a:r>
              <a:rPr>
                <a:latin typeface="Helvetica Neue Light"/>
              </a:rPr>
              <a:t>Practice effective prompting techniques</a:t>
            </a:r>
          </a:p>
          <a:p>
            <a:pPr>
              <a:defRPr sz="1800">
                <a:solidFill>
                  <a:srgbClr val="3C3C3C"/>
                </a:solidFill>
                <a:latin typeface="Helvetica"/>
              </a:defRPr>
            </a:pPr>
            <a:r>
              <a:rPr>
                <a:latin typeface="Helvetica Neue Light"/>
              </a:rPr>
              <a:t>Ask for code explanations and documentation</a:t>
            </a:r>
          </a:p>
          <a:p>
            <a:pPr>
              <a:defRPr sz="1800">
                <a:solidFill>
                  <a:srgbClr val="3C3C3C"/>
                </a:solidFill>
                <a:latin typeface="Helvetica"/>
              </a:defRPr>
            </a:pPr>
            <a:r>
              <a:rPr>
                <a:latin typeface="Helvetica Neue Light"/>
              </a:rPr>
              <a:t>Debug with AI assistance</a:t>
            </a:r>
          </a:p>
          <a:p>
            <a:pPr>
              <a:defRPr sz="1800">
                <a:solidFill>
                  <a:srgbClr val="3C3C3C"/>
                </a:solidFill>
                <a:latin typeface="Helvetica"/>
              </a:defRPr>
            </a:pPr>
            <a:r>
              <a:rPr>
                <a:latin typeface="Helvetica Neue Light"/>
              </a:rPr>
              <a:t>Learn best practices for AI-assisted development</a:t>
            </a:r>
          </a:p>
          <a:p>
            <a:pPr>
              <a:defRPr sz="1800">
                <a:solidFill>
                  <a:srgbClr val="3C3C3C"/>
                </a:solidFill>
                <a:latin typeface="Helvetica"/>
              </a:defRPr>
            </a:pPr>
            <a:r>
              <a:rPr>
                <a:latin typeface="Helvetica Neue Light"/>
              </a:rPr>
              <a:t>Try different OpenRouter models (free and paid)</a:t>
            </a:r>
          </a:p>
          <a:p>
            <a:pPr>
              <a:defRPr sz="1800">
                <a:solidFill>
                  <a:srgbClr val="3C3C3C"/>
                </a:solidFill>
                <a:latin typeface="Helvetica"/>
              </a:defRPr>
            </a:pPr>
            <a:r>
              <a:rPr>
                <a:latin typeface="Helvetica Neue Light"/>
              </a:rPr>
              <a:t>Work through these step-by-step - don't just read them, type the commands and experiment.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a:latin typeface="Helvetica Neue Light"/>
              </a:rPr>
              <a:t>Getting Help</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a:latin typeface="Helvetica Neue Light"/>
              </a:rPr>
              <a:t>Multiple Resources Available</a:t>
            </a:r>
          </a:p>
          <a:p>
            <a:pPr>
              <a:defRPr sz="1800">
                <a:solidFill>
                  <a:srgbClr val="3C3C3C"/>
                </a:solidFill>
                <a:latin typeface="Helvetica"/>
              </a:defRPr>
            </a:pPr>
            <a:r>
              <a:rPr>
                <a:latin typeface="Helvetica Neue Light"/>
              </a:rPr>
              <a:t>If you run into issues with setup or the examples, don't struggle alone:</a:t>
            </a:r>
          </a:p>
          <a:p>
            <a:pPr>
              <a:defRPr sz="1800">
                <a:solidFill>
                  <a:srgbClr val="3C3C3C"/>
                </a:solidFill>
                <a:latin typeface="Helvetica"/>
              </a:defRPr>
            </a:pPr>
            <a:r>
              <a:rPr>
                <a:latin typeface="Helvetica Neue Light"/>
              </a:rPr>
              <a:t>Primary Resources:</a:t>
            </a:r>
          </a:p>
          <a:p>
            <a:pPr>
              <a:defRPr sz="1800">
                <a:solidFill>
                  <a:srgbClr val="3C3C3C"/>
                </a:solidFill>
                <a:latin typeface="Helvetica"/>
              </a:defRPr>
            </a:pPr>
            <a:r>
              <a:rPr>
                <a:latin typeface="Helvetica Neue Light"/>
              </a:rPr>
              <a:t>**STUDENT_SETUP.md** - Comprehensive troubleshooting section</a:t>
            </a:r>
          </a:p>
          <a:p>
            <a:pPr>
              <a:defRPr sz="1800">
                <a:solidFill>
                  <a:srgbClr val="3C3C3C"/>
                </a:solidFill>
                <a:latin typeface="Helvetica"/>
              </a:defRPr>
            </a:pPr>
            <a:r>
              <a:rPr>
                <a:latin typeface="Helvetica Neue Light"/>
              </a:rPr>
              <a:t>**Course Slack** - #tech-help channel for quick questions</a:t>
            </a:r>
          </a:p>
          <a:p>
            <a:pPr>
              <a:defRPr sz="1800">
                <a:solidFill>
                  <a:srgbClr val="3C3C3C"/>
                </a:solidFill>
                <a:latin typeface="Helvetica"/>
              </a:defRPr>
            </a:pPr>
            <a:r>
              <a:rPr>
                <a:latin typeface="Helvetica Neue Light"/>
              </a:rPr>
              <a:t>**Office Hours** - Hands-on help with your laptop</a:t>
            </a:r>
          </a:p>
          <a:p>
            <a:pPr>
              <a:defRPr sz="1800">
                <a:solidFill>
                  <a:srgbClr val="3C3C3C"/>
                </a:solidFill>
                <a:latin typeface="Helvetica"/>
              </a:defRPr>
            </a:pPr>
            <a:r>
              <a:rPr>
                <a:latin typeface="Helvetica Neue Light"/>
              </a:rPr>
              <a:t>**Next Week's Class** - Dedicated troubleshooting time</a:t>
            </a:r>
          </a:p>
          <a:p>
            <a:pPr>
              <a:defRPr sz="1800">
                <a:solidFill>
                  <a:srgbClr val="3C3C3C"/>
                </a:solidFill>
                <a:latin typeface="Helvetica"/>
              </a:defRPr>
            </a:pPr>
            <a:r>
              <a:rPr>
                <a:latin typeface="Helvetica Neue Light"/>
              </a:rPr>
              <a:t>**Your Classmates** - Help each other, share solutions</a:t>
            </a:r>
          </a:p>
          <a:p>
            <a:pPr>
              <a:defRPr sz="1800">
                <a:solidFill>
                  <a:srgbClr val="3C3C3C"/>
                </a:solidFill>
                <a:latin typeface="Helvetica"/>
              </a:defRPr>
            </a:pPr>
            <a:r>
              <a:rPr>
                <a:latin typeface="Helvetica Neue Light"/>
              </a:rPr>
              <a:t>Common Issues:</a:t>
            </a:r>
          </a:p>
          <a:p>
            <a:pPr>
              <a:defRPr sz="1800">
                <a:solidFill>
                  <a:srgbClr val="3C3C3C"/>
                </a:solidFill>
                <a:latin typeface="Helvetica"/>
              </a:defRPr>
            </a:pPr>
            <a:r>
              <a:rPr>
                <a:latin typeface="Helvetica Neue Light"/>
              </a:rPr>
              <a:t>Most setup problems have been encountered before</a:t>
            </a:r>
          </a:p>
          <a:p>
            <a:pPr>
              <a:defRPr sz="1800">
                <a:solidFill>
                  <a:srgbClr val="3C3C3C"/>
                </a:solidFill>
                <a:latin typeface="Helvetica"/>
              </a:defRPr>
            </a:pPr>
            <a:r>
              <a:rPr>
                <a:latin typeface="Helvetica Neue Light"/>
              </a:rPr>
              <a:t>Check Slack first - someone may have posted the solution</a:t>
            </a:r>
          </a:p>
          <a:p>
            <a:pPr>
              <a:defRPr sz="1800">
                <a:solidFill>
                  <a:srgbClr val="3C3C3C"/>
                </a:solidFill>
                <a:latin typeface="Helvetica"/>
              </a:defRPr>
            </a:pPr>
            <a:r>
              <a:rPr>
                <a:latin typeface="Helvetica Neue Light"/>
              </a:rPr>
              <a:t>Google error messages - often leads to Stack Overflow solutions</a:t>
            </a:r>
          </a:p>
          <a:p>
            <a:pPr>
              <a:defRPr sz="1800">
                <a:solidFill>
                  <a:srgbClr val="3C3C3C"/>
                </a:solidFill>
                <a:latin typeface="Helvetica"/>
              </a:defRPr>
            </a:pPr>
            <a:r>
              <a:rPr>
                <a:latin typeface="Helvetica Neue Light"/>
              </a:rPr>
              <a:t>Ask AI assistant (Cline) for help with error messages</a:t>
            </a:r>
          </a:p>
          <a:p>
            <a:pPr>
              <a:defRPr sz="1800">
                <a:solidFill>
                  <a:srgbClr val="3C3C3C"/>
                </a:solidFill>
                <a:latin typeface="Helvetica"/>
              </a:defRPr>
            </a:pPr>
            <a:r>
              <a:rPr>
                <a:latin typeface="Helvetica Neue Light"/>
              </a:rPr>
              <a:t>Check OpenRouter dashboard if having API issues</a:t>
            </a:r>
          </a:p>
          <a:p>
            <a:pPr>
              <a:defRPr sz="1800">
                <a:solidFill>
                  <a:srgbClr val="3C3C3C"/>
                </a:solidFill>
                <a:latin typeface="Helvetica"/>
              </a:defRPr>
            </a:pPr>
            <a:r>
              <a:rPr>
                <a:latin typeface="Helvetica Neue Light"/>
              </a:rPr>
              <a:t>Getting Help is Part of Learning:</a:t>
            </a:r>
          </a:p>
          <a:p>
            <a:pPr>
              <a:defRPr sz="1800">
                <a:solidFill>
                  <a:srgbClr val="3C3C3C"/>
                </a:solidFill>
                <a:latin typeface="Helvetica"/>
              </a:defRPr>
            </a:pPr>
            <a:r>
              <a:rPr>
                <a:latin typeface="Helvetica Neue Light"/>
              </a:rPr>
              <a:t>Don't view asking for help as failure. Professional developers constantly help each other and look up solutions. Learning to find help efficiently is a valuable skill.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a:latin typeface="Helvetica Neue Light"/>
              </a:rPr>
              <a:t>Looking Ahead</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a:latin typeface="Helvetica Neue Light"/>
              </a:rPr>
              <a:t>Course Progression Over 10 Weeks</a:t>
            </a:r>
          </a:p>
          <a:p>
            <a:pPr>
              <a:defRPr sz="1800">
                <a:solidFill>
                  <a:srgbClr val="3C3C3C"/>
                </a:solidFill>
                <a:latin typeface="Helvetica"/>
              </a:defRPr>
            </a:pPr>
            <a:r>
              <a:rPr>
                <a:latin typeface="Helvetica Neue Light"/>
              </a:rPr>
              <a:t>Next Week (Week 2): Command Line &amp; Unix Fundamentals</a:t>
            </a:r>
          </a:p>
          <a:p>
            <a:pPr>
              <a:defRPr sz="1800">
                <a:solidFill>
                  <a:srgbClr val="3C3C3C"/>
                </a:solidFill>
                <a:latin typeface="Helvetica"/>
              </a:defRPr>
            </a:pPr>
            <a:r>
              <a:rPr>
                <a:latin typeface="Helvetica Neue Light"/>
              </a:rPr>
              <a:t>Bash scripting for data processing</a:t>
            </a:r>
          </a:p>
          <a:p>
            <a:pPr>
              <a:defRPr sz="1800">
                <a:solidFill>
                  <a:srgbClr val="3C3C3C"/>
                </a:solidFill>
                <a:latin typeface="Helvetica"/>
              </a:defRPr>
            </a:pPr>
            <a:r>
              <a:rPr>
                <a:latin typeface="Helvetica Neue Light"/>
              </a:rPr>
              <a:t>Text processing with grep, sed, awk</a:t>
            </a:r>
          </a:p>
          <a:p>
            <a:pPr>
              <a:defRPr sz="1800">
                <a:solidFill>
                  <a:srgbClr val="3C3C3C"/>
                </a:solidFill>
                <a:latin typeface="Helvetica"/>
              </a:defRPr>
            </a:pPr>
            <a:r>
              <a:rPr>
                <a:latin typeface="Helvetica Neue Light"/>
              </a:rPr>
              <a:t>Building data pipelines</a:t>
            </a:r>
          </a:p>
          <a:p>
            <a:pPr>
              <a:defRPr sz="1800">
                <a:solidFill>
                  <a:srgbClr val="3C3C3C"/>
                </a:solidFill>
                <a:latin typeface="Helvetica"/>
              </a:defRPr>
            </a:pPr>
            <a:r>
              <a:rPr>
                <a:latin typeface="Helvetica Neue Light"/>
              </a:rPr>
              <a:t>First homework assignment</a:t>
            </a:r>
          </a:p>
          <a:p>
            <a:pPr>
              <a:defRPr sz="1800">
                <a:solidFill>
                  <a:srgbClr val="3C3C3C"/>
                </a:solidFill>
                <a:latin typeface="Helvetica"/>
              </a:defRPr>
            </a:pPr>
            <a:r>
              <a:rPr>
                <a:latin typeface="Helvetica Neue Light"/>
              </a:rPr>
              <a:t>Week 3: Advanced Command Line &amp; Containerization</a:t>
            </a:r>
          </a:p>
          <a:p>
            <a:pPr>
              <a:defRPr sz="1800">
                <a:solidFill>
                  <a:srgbClr val="3C3C3C"/>
                </a:solidFill>
                <a:latin typeface="Helvetica"/>
              </a:defRPr>
            </a:pPr>
            <a:r>
              <a:rPr>
                <a:latin typeface="Helvetica Neue Light"/>
              </a:rPr>
              <a:t>More bash scripting techniques</a:t>
            </a:r>
          </a:p>
          <a:p>
            <a:pPr>
              <a:defRPr sz="1800">
                <a:solidFill>
                  <a:srgbClr val="3C3C3C"/>
                </a:solidFill>
                <a:latin typeface="Helvetica"/>
              </a:defRPr>
            </a:pPr>
            <a:r>
              <a:rPr>
                <a:latin typeface="Helvetica Neue Light"/>
              </a:rPr>
              <a:t>Introduction to Podman containerization</a:t>
            </a:r>
          </a:p>
          <a:p>
            <a:pPr>
              <a:defRPr sz="1800">
                <a:solidFill>
                  <a:srgbClr val="3C3C3C"/>
                </a:solidFill>
                <a:latin typeface="Helvetica"/>
              </a:defRPr>
            </a:pPr>
            <a:r>
              <a:rPr>
                <a:latin typeface="Helvetica Neue Light"/>
              </a:rPr>
              <a:t>Python project management best practices with uv</a:t>
            </a:r>
          </a:p>
          <a:p>
            <a:pPr>
              <a:defRPr sz="1800">
                <a:solidFill>
                  <a:srgbClr val="3C3C3C"/>
                </a:solidFill>
                <a:latin typeface="Helvetica"/>
              </a:defRPr>
            </a:pPr>
            <a:r>
              <a:rPr>
                <a:latin typeface="Helvetica Neue Light"/>
              </a:rPr>
              <a:t>Week 4: Data Acquisition</a:t>
            </a:r>
          </a:p>
          <a:p>
            <a:pPr>
              <a:defRPr sz="1800">
                <a:solidFill>
                  <a:srgbClr val="3C3C3C"/>
                </a:solidFill>
                <a:latin typeface="Helvetica"/>
              </a:defRPr>
            </a:pPr>
            <a:r>
              <a:rPr>
                <a:latin typeface="Helvetica Neue Light"/>
              </a:rPr>
              <a:t>Web scraping with Beautiful Soup and Selenium</a:t>
            </a:r>
          </a:p>
          <a:p>
            <a:pPr>
              <a:defRPr sz="1800">
                <a:solidFill>
                  <a:srgbClr val="3C3C3C"/>
                </a:solidFill>
                <a:latin typeface="Helvetica"/>
              </a:defRPr>
            </a:pPr>
            <a:r>
              <a:rPr>
                <a:latin typeface="Helvetica Neue Light"/>
              </a:rPr>
              <a:t>API integration and authentication</a:t>
            </a:r>
          </a:p>
          <a:p>
            <a:pPr>
              <a:defRPr sz="1800">
                <a:solidFill>
                  <a:srgbClr val="3C3C3C"/>
                </a:solidFill>
                <a:latin typeface="Helvetica"/>
              </a:defRPr>
            </a:pPr>
            <a:r>
              <a:rPr>
                <a:latin typeface="Helvetica Neue Light"/>
              </a:rPr>
              <a:t>AI-assisted code generation for data collection</a:t>
            </a:r>
          </a:p>
          <a:p>
            <a:pPr>
              <a:defRPr sz="1800">
                <a:solidFill>
                  <a:srgbClr val="3C3C3C"/>
                </a:solidFill>
                <a:latin typeface="Helvetica"/>
              </a:defRPr>
            </a:pPr>
            <a:r>
              <a:rPr>
                <a:latin typeface="Helvetica Neue Light"/>
              </a:rPr>
              <a:t>Weeks 5-10: Advanced Topics</a:t>
            </a:r>
          </a:p>
          <a:p>
            <a:pPr>
              <a:defRPr sz="1800">
                <a:solidFill>
                  <a:srgbClr val="3C3C3C"/>
                </a:solidFill>
                <a:latin typeface="Helvetica"/>
              </a:defRPr>
            </a:pPr>
            <a:r>
              <a:rPr>
                <a:latin typeface="Helvetica Neue Light"/>
              </a:rPr>
              <a:t>LLMs, RAG systems, vector databases (Week 5)</a:t>
            </a:r>
          </a:p>
          <a:p>
            <a:pPr>
              <a:defRPr sz="1800">
                <a:solidFill>
                  <a:srgbClr val="3C3C3C"/>
                </a:solidFill>
                <a:latin typeface="Helvetica"/>
              </a:defRPr>
            </a:pPr>
            <a:r>
              <a:rPr>
                <a:latin typeface="Helvetica Neue Light"/>
              </a:rPr>
              <a:t>Streamlit applications and deployment (Week 6)</a:t>
            </a:r>
          </a:p>
          <a:p>
            <a:pPr>
              <a:defRPr sz="1800">
                <a:solidFill>
                  <a:srgbClr val="3C3C3C"/>
                </a:solidFill>
                <a:latin typeface="Helvetica"/>
              </a:defRPr>
            </a:pPr>
            <a:r>
              <a:rPr>
                <a:latin typeface="Helvetica Neue Light"/>
              </a:rPr>
              <a:t>MCP servers and tool creation (Week 7)</a:t>
            </a:r>
          </a:p>
          <a:p>
            <a:pPr>
              <a:defRPr sz="1800">
                <a:solidFill>
                  <a:srgbClr val="3C3C3C"/>
                </a:solidFill>
                <a:latin typeface="Helvetica"/>
              </a:defRPr>
            </a:pPr>
            <a:r>
              <a:rPr>
                <a:latin typeface="Helvetica Neue Light"/>
              </a:rPr>
              <a:t>APIs and AI agents (Week 8)</a:t>
            </a:r>
          </a:p>
          <a:p>
            <a:pPr>
              <a:defRPr sz="1800">
                <a:solidFill>
                  <a:srgbClr val="3C3C3C"/>
                </a:solidFill>
                <a:latin typeface="Helvetica"/>
              </a:defRPr>
            </a:pPr>
            <a:r>
              <a:rPr>
                <a:latin typeface="Helvetica Neue Light"/>
              </a:rPr>
              <a:t>CI/CD pipelines with GitHub Actions (Week 9)</a:t>
            </a:r>
          </a:p>
          <a:p>
            <a:pPr>
              <a:defRPr sz="1800">
                <a:solidFill>
                  <a:srgbClr val="3C3C3C"/>
                </a:solidFill>
                <a:latin typeface="Helvetica"/>
              </a:defRPr>
            </a:pPr>
            <a:r>
              <a:rPr>
                <a:latin typeface="Helvetica Neue Light"/>
              </a:rPr>
              <a:t>Final presentations (Week 10)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a:latin typeface="Helvetica Neue Light"/>
              </a:rPr>
              <a:t>Key Takeaways</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a:latin typeface="Helvetica Neue Light"/>
              </a:rPr>
              <a:t>Fundamental Principles to Remember</a:t>
            </a:r>
          </a:p>
          <a:p>
            <a:pPr>
              <a:defRPr sz="1800">
                <a:solidFill>
                  <a:srgbClr val="3C3C3C"/>
                </a:solidFill>
                <a:latin typeface="Helvetica"/>
              </a:defRPr>
            </a:pPr>
            <a:r>
              <a:rPr>
                <a:latin typeface="Helvetica Neue Light"/>
              </a:rPr>
              <a:t>Tools vs. Fundamentals:</a:t>
            </a:r>
          </a:p>
          <a:p>
            <a:pPr>
              <a:defRPr sz="1800">
                <a:solidFill>
                  <a:srgbClr val="3C3C3C"/>
                </a:solidFill>
                <a:latin typeface="Helvetica"/>
              </a:defRPr>
            </a:pPr>
            <a:r>
              <a:rPr>
                <a:latin typeface="Helvetica Neue Light"/>
              </a:rPr>
              <a:t>Tools change rapidly, but fundamental concepts endure</a:t>
            </a:r>
          </a:p>
          <a:p>
            <a:pPr>
              <a:defRPr sz="1800">
                <a:solidFill>
                  <a:srgbClr val="3C3C3C"/>
                </a:solidFill>
                <a:latin typeface="Helvetica"/>
              </a:defRPr>
            </a:pPr>
            <a:r>
              <a:rPr>
                <a:latin typeface="Helvetica Neue Light"/>
              </a:rPr>
              <a:t>Learn the principles behind the tools, not just the tools themselves</a:t>
            </a:r>
          </a:p>
          <a:p>
            <a:pPr>
              <a:defRPr sz="1800">
                <a:solidFill>
                  <a:srgbClr val="3C3C3C"/>
                </a:solidFill>
                <a:latin typeface="Helvetica"/>
              </a:defRPr>
            </a:pPr>
            <a:r>
              <a:rPr>
                <a:latin typeface="Helvetica Neue Light"/>
              </a:rPr>
              <a:t>Understand why things work the way they do</a:t>
            </a:r>
          </a:p>
          <a:p>
            <a:pPr>
              <a:defRPr sz="1800">
                <a:solidFill>
                  <a:srgbClr val="3C3C3C"/>
                </a:solidFill>
                <a:latin typeface="Helvetica"/>
              </a:defRPr>
            </a:pPr>
            <a:r>
              <a:rPr>
                <a:latin typeface="Helvetica Neue Light"/>
              </a:rPr>
              <a:t>AI as Enhancement:</a:t>
            </a:r>
          </a:p>
          <a:p>
            <a:pPr>
              <a:defRPr sz="1800">
                <a:solidFill>
                  <a:srgbClr val="3C3C3C"/>
                </a:solidFill>
                <a:latin typeface="Helvetica"/>
              </a:defRPr>
            </a:pPr>
            <a:r>
              <a:rPr>
                <a:latin typeface="Helvetica Neue Light"/>
              </a:rPr>
              <a:t>AI assistants are powerful tools that enhance productivity</a:t>
            </a:r>
          </a:p>
          <a:p>
            <a:pPr>
              <a:defRPr sz="1800">
                <a:solidFill>
                  <a:srgbClr val="3C3C3C"/>
                </a:solidFill>
                <a:latin typeface="Helvetica"/>
              </a:defRPr>
            </a:pPr>
            <a:r>
              <a:rPr>
                <a:latin typeface="Helvetica Neue Light"/>
              </a:rPr>
              <a:t>They don't replace understanding or critical thinking</a:t>
            </a:r>
          </a:p>
          <a:p>
            <a:pPr>
              <a:defRPr sz="1800">
                <a:solidFill>
                  <a:srgbClr val="3C3C3C"/>
                </a:solidFill>
                <a:latin typeface="Helvetica"/>
              </a:defRPr>
            </a:pPr>
            <a:r>
              <a:rPr>
                <a:latin typeface="Helvetica Neue Light"/>
              </a:rPr>
              <a:t>Use them to speed up implementation while maintaining deep knowledge</a:t>
            </a:r>
          </a:p>
          <a:p>
            <a:pPr>
              <a:defRPr sz="1800">
                <a:solidFill>
                  <a:srgbClr val="3C3C3C"/>
                </a:solidFill>
                <a:latin typeface="Helvetica"/>
              </a:defRPr>
            </a:pPr>
            <a:r>
              <a:rPr>
                <a:latin typeface="Helvetica Neue Light"/>
              </a:rPr>
              <a:t>Always review and understand generated code</a:t>
            </a:r>
          </a:p>
          <a:p>
            <a:pPr>
              <a:defRPr sz="1800">
                <a:solidFill>
                  <a:srgbClr val="3C3C3C"/>
                </a:solidFill>
                <a:latin typeface="Helvetica"/>
              </a:defRPr>
            </a:pPr>
            <a:r>
              <a:rPr>
                <a:latin typeface="Helvetica Neue Light"/>
              </a:rPr>
              <a:t>Learning by Doing:</a:t>
            </a:r>
          </a:p>
          <a:p>
            <a:pPr>
              <a:defRPr sz="1800">
                <a:solidFill>
                  <a:srgbClr val="3C3C3C"/>
                </a:solidFill>
                <a:latin typeface="Helvetica"/>
              </a:defRPr>
            </a:pPr>
            <a:r>
              <a:rPr>
                <a:latin typeface="Helvetica Neue Light"/>
              </a:rPr>
              <a:t>Work through examples, don't just read them</a:t>
            </a:r>
          </a:p>
          <a:p>
            <a:pPr>
              <a:defRPr sz="1800">
                <a:solidFill>
                  <a:srgbClr val="3C3C3C"/>
                </a:solidFill>
                <a:latin typeface="Helvetica"/>
              </a:defRPr>
            </a:pPr>
            <a:r>
              <a:rPr>
                <a:latin typeface="Helvetica Neue Light"/>
              </a:rPr>
              <a:t>Break things and figure out how to fix them</a:t>
            </a:r>
          </a:p>
          <a:p>
            <a:pPr>
              <a:defRPr sz="1800">
                <a:solidFill>
                  <a:srgbClr val="3C3C3C"/>
                </a:solidFill>
                <a:latin typeface="Helvetica"/>
              </a:defRPr>
            </a:pPr>
            <a:r>
              <a:rPr>
                <a:latin typeface="Helvetica Neue Light"/>
              </a:rPr>
              <a:t>Experiment with variations and extensions</a:t>
            </a:r>
          </a:p>
          <a:p>
            <a:pPr>
              <a:defRPr sz="1800">
                <a:solidFill>
                  <a:srgbClr val="3C3C3C"/>
                </a:solidFill>
                <a:latin typeface="Helvetica"/>
              </a:defRPr>
            </a:pPr>
            <a:r>
              <a:rPr>
                <a:latin typeface="Helvetica Neue Light"/>
              </a:rPr>
              <a:t>Building in Public:</a:t>
            </a:r>
          </a:p>
          <a:p>
            <a:pPr>
              <a:defRPr sz="1800">
                <a:solidFill>
                  <a:srgbClr val="3C3C3C"/>
                </a:solidFill>
                <a:latin typeface="Helvetica"/>
              </a:defRPr>
            </a:pPr>
            <a:r>
              <a:rPr>
                <a:latin typeface="Helvetica Neue Light"/>
              </a:rPr>
              <a:t>Share your work on GitHub - it's your portfolio</a:t>
            </a:r>
          </a:p>
          <a:p>
            <a:pPr>
              <a:defRPr sz="1800">
                <a:solidFill>
                  <a:srgbClr val="3C3C3C"/>
                </a:solidFill>
                <a:latin typeface="Helvetica"/>
              </a:defRPr>
            </a:pPr>
            <a:r>
              <a:rPr>
                <a:latin typeface="Helvetica Neue Light"/>
              </a:rPr>
              <a:t>Help classmates and ask for help when needed</a:t>
            </a:r>
          </a:p>
          <a:p>
            <a:pPr>
              <a:defRPr sz="1800">
                <a:solidFill>
                  <a:srgbClr val="3C3C3C"/>
                </a:solidFill>
                <a:latin typeface="Helvetica"/>
              </a:defRPr>
            </a:pPr>
            <a:r>
              <a:rPr>
                <a:latin typeface="Helvetica Neue Light"/>
              </a:rPr>
              <a:t>Document your projects well</a:t>
            </a:r>
          </a:p>
          <a:p>
            <a:pPr>
              <a:defRPr sz="1800">
                <a:solidFill>
                  <a:srgbClr val="3C3C3C"/>
                </a:solidFill>
                <a:latin typeface="Helvetica"/>
              </a:defRPr>
            </a:pPr>
            <a:r>
              <a:rPr>
                <a:latin typeface="Helvetica Neue Light"/>
              </a:rPr>
              <a:t>Your GitHub profile is your professional presence</a:t>
            </a:r>
          </a:p>
          <a:p>
            <a:pPr>
              <a:defRPr sz="1800">
                <a:solidFill>
                  <a:srgbClr val="3C3C3C"/>
                </a:solidFill>
                <a:latin typeface="Helvetica"/>
              </a:defRPr>
            </a:pPr>
            <a:r>
              <a:rPr>
                <a:latin typeface="Helvetica Neue Light"/>
              </a:rPr>
              <a:t>Stay Curious:</a:t>
            </a:r>
          </a:p>
          <a:p>
            <a:pPr>
              <a:defRPr sz="1800">
                <a:solidFill>
                  <a:srgbClr val="3C3C3C"/>
                </a:solidFill>
                <a:latin typeface="Helvetica"/>
              </a:defRPr>
            </a:pPr>
            <a:r>
              <a:rPr>
                <a:latin typeface="Helvetica Neue Light"/>
              </a:rPr>
              <a:t>Follow interesting questions beyond just assignments</a:t>
            </a:r>
          </a:p>
          <a:p>
            <a:pPr>
              <a:defRPr sz="1800">
                <a:solidFill>
                  <a:srgbClr val="3C3C3C"/>
                </a:solidFill>
                <a:latin typeface="Helvetica"/>
              </a:defRPr>
            </a:pPr>
            <a:r>
              <a:rPr>
                <a:latin typeface="Helvetica Neue Light"/>
              </a:rPr>
              <a:t>Explore tangents that capture your interest</a:t>
            </a:r>
          </a:p>
          <a:p>
            <a:pPr>
              <a:defRPr sz="1800">
                <a:solidFill>
                  <a:srgbClr val="3C3C3C"/>
                </a:solidFill>
                <a:latin typeface="Helvetica"/>
              </a:defRPr>
            </a:pPr>
            <a:r>
              <a:rPr>
                <a:latin typeface="Helvetica Neue Light"/>
              </a:rPr>
              <a:t>The best data scientists are driven by curiosity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a:latin typeface="Helvetica Neue Light"/>
              </a:rPr>
              <a:t>This Week's Action Items</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a:latin typeface="Helvetica Neue Light"/>
              </a:rPr>
              <a:t>Complete Before Next Tuesday</a:t>
            </a:r>
          </a:p>
          <a:p>
            <a:pPr>
              <a:defRPr sz="1800">
                <a:solidFill>
                  <a:srgbClr val="3C3C3C"/>
                </a:solidFill>
                <a:latin typeface="Helvetica"/>
              </a:defRPr>
            </a:pPr>
            <a:r>
              <a:rPr>
                <a:latin typeface="Helvetica Neue Light"/>
              </a:rPr>
              <a:t>Setup Tasks:</a:t>
            </a:r>
          </a:p>
          <a:p>
            <a:pPr>
              <a:defRPr sz="1800">
                <a:solidFill>
                  <a:srgbClr val="3C3C3C"/>
                </a:solidFill>
                <a:latin typeface="Helvetica"/>
              </a:defRPr>
            </a:pPr>
            <a:r>
              <a:rPr>
                <a:latin typeface="Helvetica Neue Light"/>
              </a:rPr>
              <a:t>[ ] Work through STUDENT_SETUP.md completely</a:t>
            </a:r>
          </a:p>
          <a:p>
            <a:pPr>
              <a:defRPr sz="1800">
                <a:solidFill>
                  <a:srgbClr val="3C3C3C"/>
                </a:solidFill>
                <a:latin typeface="Helvetica"/>
              </a:defRPr>
            </a:pPr>
            <a:r>
              <a:rPr>
                <a:latin typeface="Helvetica Neue Light"/>
              </a:rPr>
              <a:t>[ ] Install Git, Python 3.11+, uv, VSCode</a:t>
            </a:r>
          </a:p>
          <a:p>
            <a:pPr>
              <a:defRPr sz="1800">
                <a:solidFill>
                  <a:srgbClr val="3C3C3C"/>
                </a:solidFill>
                <a:latin typeface="Helvetica"/>
              </a:defRPr>
            </a:pPr>
            <a:r>
              <a:rPr>
                <a:latin typeface="Helvetica Neue Light"/>
              </a:rPr>
              <a:t>[ ] Install and configure VSCode extensions (Python, Cline, GitLens)</a:t>
            </a:r>
          </a:p>
          <a:p>
            <a:pPr>
              <a:defRPr sz="1800">
                <a:solidFill>
                  <a:srgbClr val="3C3C3C"/>
                </a:solidFill>
                <a:latin typeface="Helvetica"/>
              </a:defRPr>
            </a:pPr>
            <a:r>
              <a:rPr>
                <a:latin typeface="Helvetica Neue Light"/>
              </a:rPr>
              <a:t>[ ] Get OpenRouter API key and configure Cline</a:t>
            </a:r>
          </a:p>
          <a:p>
            <a:pPr>
              <a:defRPr sz="1800">
                <a:solidFill>
                  <a:srgbClr val="3C3C3C"/>
                </a:solidFill>
                <a:latin typeface="Helvetica"/>
              </a:defRPr>
            </a:pPr>
            <a:r>
              <a:rPr>
                <a:latin typeface="Helvetica Neue Light"/>
              </a:rPr>
              <a:t>[ ] Test that everything works</a:t>
            </a:r>
          </a:p>
          <a:p>
            <a:pPr>
              <a:defRPr sz="1800">
                <a:solidFill>
                  <a:srgbClr val="3C3C3C"/>
                </a:solidFill>
                <a:latin typeface="Helvetica"/>
              </a:defRPr>
            </a:pPr>
            <a:r>
              <a:rPr>
                <a:latin typeface="Helvetica Neue Light"/>
              </a:rPr>
              <a:t>Practice Tasks:</a:t>
            </a:r>
          </a:p>
          <a:p>
            <a:pPr>
              <a:defRPr sz="1800">
                <a:solidFill>
                  <a:srgbClr val="3C3C3C"/>
                </a:solidFill>
                <a:latin typeface="Helvetica"/>
              </a:defRPr>
            </a:pPr>
            <a:r>
              <a:rPr>
                <a:latin typeface="Helvetica Neue Light"/>
              </a:rPr>
              <a:t>[ ] Complete all three examples in week-1/examples/</a:t>
            </a:r>
          </a:p>
          <a:p>
            <a:pPr>
              <a:defRPr sz="1800">
                <a:solidFill>
                  <a:srgbClr val="3C3C3C"/>
                </a:solidFill>
                <a:latin typeface="Helvetica"/>
              </a:defRPr>
            </a:pPr>
            <a:r>
              <a:rPr>
                <a:latin typeface="Helvetica Neue Light"/>
              </a:rPr>
              <a:t>[ ] python-setup: Create virtual environment and run analysis</a:t>
            </a:r>
          </a:p>
          <a:p>
            <a:pPr>
              <a:defRPr sz="1800">
                <a:solidFill>
                  <a:srgbClr val="3C3C3C"/>
                </a:solidFill>
                <a:latin typeface="Helvetica"/>
              </a:defRPr>
            </a:pPr>
            <a:r>
              <a:rPr>
                <a:latin typeface="Helvetica Neue Light"/>
              </a:rPr>
              <a:t>[ ] git-workflow: Practice Git commands and workflows</a:t>
            </a:r>
          </a:p>
          <a:p>
            <a:pPr>
              <a:defRPr sz="1800">
                <a:solidFill>
                  <a:srgbClr val="3C3C3C"/>
                </a:solidFill>
                <a:latin typeface="Helvetica"/>
              </a:defRPr>
            </a:pPr>
            <a:r>
              <a:rPr>
                <a:latin typeface="Helvetica Neue Light"/>
              </a:rPr>
              <a:t>[ ] ai-assistant-demo: Use Cline with OpenRouter effectively</a:t>
            </a:r>
          </a:p>
          <a:p>
            <a:pPr>
              <a:defRPr sz="1800">
                <a:solidFill>
                  <a:srgbClr val="3C3C3C"/>
                </a:solidFill>
                <a:latin typeface="Helvetica"/>
              </a:defRPr>
            </a:pPr>
            <a:r>
              <a:rPr>
                <a:latin typeface="Helvetica Neue Light"/>
              </a:rPr>
              <a:t>[ ] Join the course Slack workspace</a:t>
            </a:r>
          </a:p>
          <a:p>
            <a:pPr>
              <a:defRPr sz="1800">
                <a:solidFill>
                  <a:srgbClr val="3C3C3C"/>
                </a:solidFill>
                <a:latin typeface="Helvetica"/>
              </a:defRPr>
            </a:pPr>
            <a:r>
              <a:rPr>
                <a:latin typeface="Helvetica Neue Light"/>
              </a:rPr>
              <a:t>[ ] Fork the course repository on GitHub</a:t>
            </a:r>
          </a:p>
          <a:p>
            <a:pPr>
              <a:defRPr sz="1800">
                <a:solidFill>
                  <a:srgbClr val="3C3C3C"/>
                </a:solidFill>
                <a:latin typeface="Helvetica"/>
              </a:defRPr>
            </a:pPr>
            <a:r>
              <a:rPr>
                <a:latin typeface="Helvetica Neue Light"/>
              </a:rPr>
              <a:t>[ ] Create your own test repository to practice Git</a:t>
            </a:r>
          </a:p>
          <a:p>
            <a:pPr>
              <a:defRPr sz="1800">
                <a:solidFill>
                  <a:srgbClr val="3C3C3C"/>
                </a:solidFill>
                <a:latin typeface="Helvetica"/>
              </a:defRPr>
            </a:pPr>
            <a:r>
              <a:rPr>
                <a:latin typeface="Helvetica Neue Light"/>
              </a:rPr>
              <a:t>Preparation:</a:t>
            </a:r>
          </a:p>
          <a:p>
            <a:pPr>
              <a:defRPr sz="1800">
                <a:solidFill>
                  <a:srgbClr val="3C3C3C"/>
                </a:solidFill>
                <a:latin typeface="Helvetica"/>
              </a:defRPr>
            </a:pPr>
            <a:r>
              <a:rPr>
                <a:latin typeface="Helvetica Neue Light"/>
              </a:rPr>
              <a:t>[ ] Start thinking about final project ideas</a:t>
            </a:r>
          </a:p>
          <a:p>
            <a:pPr>
              <a:defRPr sz="1800">
                <a:solidFill>
                  <a:srgbClr val="3C3C3C"/>
                </a:solidFill>
                <a:latin typeface="Helvetica"/>
              </a:defRPr>
            </a:pPr>
            <a:r>
              <a:rPr>
                <a:latin typeface="Helvetica Neue Light"/>
              </a:rPr>
              <a:t>[ ] What data are you curious about?</a:t>
            </a:r>
          </a:p>
          <a:p>
            <a:pPr>
              <a:defRPr sz="1800">
                <a:solidFill>
                  <a:srgbClr val="3C3C3C"/>
                </a:solidFill>
                <a:latin typeface="Helvetica"/>
              </a:defRPr>
            </a:pPr>
            <a:r>
              <a:rPr>
                <a:latin typeface="Helvetica Neue Light"/>
              </a:rPr>
              <a:t>[ ] What would you like to build and deploy?</a:t>
            </a:r>
          </a:p>
          <a:p>
            <a:pPr>
              <a:defRPr sz="1800">
                <a:solidFill>
                  <a:srgbClr val="3C3C3C"/>
                </a:solidFill>
                <a:latin typeface="Helvetica"/>
              </a:defRPr>
            </a:pPr>
            <a:r>
              <a:rPr>
                <a:latin typeface="Helvetica Neue Light"/>
              </a:rPr>
              <a:t>Come to next class ready to code with your environment fully set up and examples completed.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277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789920" cy="1097280"/>
          </a:xfrm>
          <a:prstGeom prst="rect">
            <a:avLst/>
          </a:prstGeom>
          <a:noFill/>
        </p:spPr>
        <p:txBody>
          <a:bodyPr wrap="square">
            <a:spAutoFit/>
          </a:bodyPr>
          <a:lstStyle/>
          <a:p>
            <a:pPr>
              <a:defRPr sz="3400" b="1">
                <a:solidFill>
                  <a:srgbClr val="202020"/>
                </a:solidFill>
                <a:latin typeface="Helvetica"/>
              </a:defRPr>
            </a:pPr>
            <a:r>
              <a:rPr>
                <a:latin typeface="Helvetica Neue Light"/>
              </a:rPr>
              <a:t>Questions and Next Steps</a:t>
            </a:r>
          </a:p>
        </p:txBody>
      </p:sp>
      <p:sp>
        <p:nvSpPr>
          <p:cNvPr id="4" name="TextBox 3"/>
          <p:cNvSpPr txBox="1"/>
          <p:nvPr/>
        </p:nvSpPr>
        <p:spPr>
          <a:xfrm>
            <a:off x="822960" y="1737360"/>
            <a:ext cx="7863840" cy="4480560"/>
          </a:xfrm>
          <a:prstGeom prst="rect">
            <a:avLst/>
          </a:prstGeom>
          <a:noFill/>
        </p:spPr>
        <p:txBody>
          <a:bodyPr wrap="square">
            <a:spAutoFit/>
          </a:bodyPr>
          <a:lstStyle/>
          <a:p>
            <a:pPr>
              <a:defRPr sz="1800">
                <a:solidFill>
                  <a:srgbClr val="3C3C3C"/>
                </a:solidFill>
                <a:latin typeface="Helvetica"/>
              </a:defRPr>
            </a:pPr>
            <a:r>
              <a:rPr>
                <a:latin typeface="Helvetica Neue Light"/>
              </a:rPr>
              <a:t>Rest of Today's Session</a:t>
            </a:r>
          </a:p>
          <a:p>
            <a:pPr>
              <a:defRPr sz="1800">
                <a:solidFill>
                  <a:srgbClr val="3C3C3C"/>
                </a:solidFill>
                <a:latin typeface="Helvetica"/>
              </a:defRPr>
            </a:pPr>
            <a:r>
              <a:rPr>
                <a:latin typeface="Helvetica Neue Light"/>
              </a:rPr>
              <a:t>Now we'll move to hands-on demonstrations:</a:t>
            </a:r>
          </a:p>
          <a:p>
            <a:pPr>
              <a:defRPr sz="1800">
                <a:solidFill>
                  <a:srgbClr val="3C3C3C"/>
                </a:solidFill>
                <a:latin typeface="Helvetica"/>
              </a:defRPr>
            </a:pPr>
            <a:r>
              <a:rPr>
                <a:latin typeface="Helvetica Neue Light"/>
              </a:rPr>
              <a:t>**Setup walkthrough** - we'll go through the installation process together</a:t>
            </a:r>
          </a:p>
          <a:p>
            <a:pPr>
              <a:defRPr sz="1800">
                <a:solidFill>
                  <a:srgbClr val="3C3C3C"/>
                </a:solidFill>
                <a:latin typeface="Helvetica"/>
              </a:defRPr>
            </a:pPr>
            <a:r>
              <a:rPr>
                <a:latin typeface="Helvetica Neue Light"/>
              </a:rPr>
              <a:t>**Git workflow demo** - see version control in action</a:t>
            </a:r>
          </a:p>
          <a:p>
            <a:pPr>
              <a:defRPr sz="1800">
                <a:solidFill>
                  <a:srgbClr val="3C3C3C"/>
                </a:solidFill>
                <a:latin typeface="Helvetica"/>
              </a:defRPr>
            </a:pPr>
            <a:r>
              <a:rPr>
                <a:latin typeface="Helvetica Neue Light"/>
              </a:rPr>
              <a:t>**Python and uv demonstration** - virtual environments and package management</a:t>
            </a:r>
          </a:p>
          <a:p>
            <a:pPr>
              <a:defRPr sz="1800">
                <a:solidFill>
                  <a:srgbClr val="3C3C3C"/>
                </a:solidFill>
                <a:latin typeface="Helvetica"/>
              </a:defRPr>
            </a:pPr>
            <a:r>
              <a:rPr>
                <a:latin typeface="Helvetica Neue Light"/>
              </a:rPr>
              <a:t>**AI assistant demo** - effective use of Cline with OpenRouter</a:t>
            </a:r>
          </a:p>
          <a:p>
            <a:pPr>
              <a:defRPr sz="1800">
                <a:solidFill>
                  <a:srgbClr val="3C3C3C"/>
                </a:solidFill>
                <a:latin typeface="Helvetica"/>
              </a:defRPr>
            </a:pPr>
            <a:r>
              <a:rPr>
                <a:latin typeface="Helvetica Neue Light"/>
              </a:rPr>
              <a:t>**Troubleshooting time** - help with any setup issues</a:t>
            </a:r>
          </a:p>
          <a:p>
            <a:pPr>
              <a:defRPr sz="1800">
                <a:solidFill>
                  <a:srgbClr val="3C3C3C"/>
                </a:solidFill>
                <a:latin typeface="Helvetica"/>
              </a:defRPr>
            </a:pPr>
            <a:r>
              <a:rPr>
                <a:latin typeface="Helvetica Neue Light"/>
              </a:rPr>
              <a:t>Bring Your Questions:</a:t>
            </a:r>
          </a:p>
          <a:p>
            <a:pPr>
              <a:defRPr sz="1800">
                <a:solidFill>
                  <a:srgbClr val="3C3C3C"/>
                </a:solidFill>
                <a:latin typeface="Helvetica"/>
              </a:defRPr>
            </a:pPr>
            <a:r>
              <a:rPr>
                <a:latin typeface="Helvetica Neue Light"/>
              </a:rPr>
              <a:t>If something isn't clear, ask</a:t>
            </a:r>
          </a:p>
          <a:p>
            <a:pPr>
              <a:defRPr sz="1800">
                <a:solidFill>
                  <a:srgbClr val="3C3C3C"/>
                </a:solidFill>
                <a:latin typeface="Helvetica"/>
              </a:defRPr>
            </a:pPr>
            <a:r>
              <a:rPr>
                <a:latin typeface="Helvetica Neue Light"/>
              </a:rPr>
              <a:t>If you're stuck on setup, we'll troubleshoot together</a:t>
            </a:r>
          </a:p>
          <a:p>
            <a:pPr>
              <a:defRPr sz="1800">
                <a:solidFill>
                  <a:srgbClr val="3C3C3C"/>
                </a:solidFill>
                <a:latin typeface="Helvetica"/>
              </a:defRPr>
            </a:pPr>
            <a:r>
              <a:rPr>
                <a:latin typeface="Helvetica Neue Light"/>
              </a:rPr>
              <a:t>Goal: everyone leaves with a working development environment</a:t>
            </a:r>
          </a:p>
          <a:p>
            <a:pPr>
              <a:defRPr sz="1800">
                <a:solidFill>
                  <a:srgbClr val="3C3C3C"/>
                </a:solidFill>
                <a:latin typeface="Helvetica"/>
              </a:defRPr>
            </a:pPr>
            <a:r>
              <a:rPr>
                <a:latin typeface="Helvetica Neue Light"/>
              </a:rPr>
              <a:t>Next Week:</a:t>
            </a:r>
          </a:p>
          <a:p>
            <a:pPr>
              <a:defRPr sz="1800">
                <a:solidFill>
                  <a:srgbClr val="3C3C3C"/>
                </a:solidFill>
                <a:latin typeface="Helvetica"/>
              </a:defRPr>
            </a:pPr>
            <a:r>
              <a:rPr>
                <a:latin typeface="Helvetica Neue Light"/>
              </a:rPr>
              <a:t>Come with setup complete and examples done</a:t>
            </a:r>
          </a:p>
          <a:p>
            <a:pPr>
              <a:defRPr sz="1800">
                <a:solidFill>
                  <a:srgbClr val="3C3C3C"/>
                </a:solidFill>
                <a:latin typeface="Helvetica"/>
              </a:defRPr>
            </a:pPr>
            <a:r>
              <a:rPr>
                <a:latin typeface="Helvetica Neue Light"/>
              </a:rPr>
              <a:t>We'll hit the ground running with command line fundamentals</a:t>
            </a:r>
          </a:p>
          <a:p>
            <a:pPr>
              <a:defRPr sz="1800">
                <a:solidFill>
                  <a:srgbClr val="3C3C3C"/>
                </a:solidFill>
                <a:latin typeface="Helvetica"/>
              </a:defRPr>
            </a:pPr>
            <a:r>
              <a:rPr>
                <a:latin typeface="Helvetica Neue Light"/>
              </a:rPr>
              <a:t>First homework will be assigned</a:t>
            </a:r>
          </a:p>
          <a:p>
            <a:pPr>
              <a:defRPr sz="1800">
                <a:solidFill>
                  <a:srgbClr val="3C3C3C"/>
                </a:solidFill>
                <a:latin typeface="Helvetica"/>
              </a:defRPr>
            </a:pPr>
            <a:r>
              <a:rPr>
                <a:latin typeface="Helvetica Neue Light"/>
              </a:rPr>
              <a:t>Welcome to STAT 418 - Let's build something great this quarter!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